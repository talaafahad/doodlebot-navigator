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1" r:id="rId8"/>
    <p:sldId id="272" r:id="rId9"/>
    <p:sldId id="263" r:id="rId10"/>
    <p:sldId id="264" r:id="rId11"/>
    <p:sldId id="265" r:id="rId12"/>
    <p:sldId id="266" r:id="rId13"/>
    <p:sldId id="267"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arm-up" id="{39A0A868-B9F3-D239-E14E-132DC1A4932A}">
          <p14:sldIdLst>
            <p14:sldId id="256"/>
            <p14:sldId id="257"/>
            <p14:sldId id="258"/>
            <p14:sldId id="259"/>
            <p14:sldId id="260"/>
          </p14:sldIdLst>
        </p14:section>
        <p14:section name="Learn &amp; play" id="{6A689E65-39E9-7FB8-EA86-1170D01E54F3}">
          <p14:sldIdLst>
            <p14:sldId id="261"/>
            <p14:sldId id="271"/>
            <p14:sldId id="272"/>
            <p14:sldId id="263"/>
            <p14:sldId id="264"/>
            <p14:sldId id="265"/>
            <p14:sldId id="266"/>
            <p14:sldId id="267"/>
            <p14:sldId id="268"/>
          </p14:sldIdLst>
        </p14:section>
        <p14:section name="Wrap-up" id="{590722A9-F488-E7DB-ADF3-2A96F0A3E55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329"/>
    <a:srgbClr val="5664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435"/>
    <p:restoredTop sz="94610"/>
  </p:normalViewPr>
  <p:slideViewPr>
    <p:cSldViewPr snapToGrid="0" snapToObjects="1">
      <p:cViewPr varScale="1">
        <p:scale>
          <a:sx n="20" d="100"/>
          <a:sy n="20" d="100"/>
        </p:scale>
        <p:origin x="216" y="2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52647D"/>
                </a:solidFill>
                <a:latin typeface="+mn-lt"/>
              </a:defRPr>
            </a:pPr>
            <a:r>
              <a:rPr lang="en-US" sz="1600" b="0" i="0" u="none" strike="noStrike">
                <a:solidFill>
                  <a:srgbClr val="52647D"/>
                </a:solidFill>
                <a:latin typeface="+mn-lt"/>
              </a:rPr>
              <a:t>Our results · Lesson maze 1X6Y · BFS</a:t>
            </a:r>
          </a:p>
        </c:rich>
      </c:tx>
      <c:overlay val="0"/>
    </c:title>
    <c:autoTitleDeleted val="0"/>
    <c:plotArea>
      <c:layout/>
      <c:barChart>
        <c:barDir val="col"/>
        <c:grouping val="clustered"/>
        <c:varyColors val="0"/>
        <c:ser>
          <c:idx val="0"/>
          <c:order val="0"/>
          <c:tx>
            <c:strRef>
              <c:f>Sheet1!$B$1</c:f>
              <c:strCache>
                <c:ptCount val="1"/>
                <c:pt idx="0">
                  <c:v>Steps to finish mapping</c:v>
                </c:pt>
              </c:strCache>
            </c:strRef>
          </c:tx>
          <c:spPr>
            <a:solidFill>
              <a:srgbClr val="3478D4"/>
            </a:solidFill>
            <a:effectLst/>
          </c:spPr>
          <c:invertIfNegative val="0"/>
          <c:dLbls>
            <c:numFmt formatCode="#,##0" sourceLinked="0"/>
            <c:spPr>
              <a:noFill/>
              <a:ln>
                <a:noFill/>
              </a:ln>
              <a:effectLst/>
            </c:spPr>
            <c:txPr>
              <a:bodyPr/>
              <a:lstStyle/>
              <a:p>
                <a:pPr>
                  <a:defRPr sz="1600" b="1" i="0" u="none" strike="noStrike">
                    <a:solidFill>
                      <a:srgbClr val="24365B"/>
                    </a:solidFill>
                    <a:latin typeface="+mn-lt"/>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Sensor range 1</c:v>
                </c:pt>
                <c:pt idx="1">
                  <c:v>Sensor range 4</c:v>
                </c:pt>
              </c:strCache>
            </c:strRef>
          </c:cat>
          <c:val>
            <c:numRef>
              <c:f>Sheet1!$B$2:$B$3</c:f>
              <c:numCache>
                <c:formatCode>General</c:formatCode>
                <c:ptCount val="2"/>
                <c:pt idx="0">
                  <c:v>78</c:v>
                </c:pt>
                <c:pt idx="1">
                  <c:v>29</c:v>
                </c:pt>
              </c:numCache>
            </c:numRef>
          </c:val>
          <c:extLst>
            <c:ext xmlns:c16="http://schemas.microsoft.com/office/drawing/2014/chart" uri="{C3380CC4-5D6E-409C-BE32-E72D297353CC}">
              <c16:uniqueId val="{00000000-8820-714E-9689-BF0ED1CA8D74}"/>
            </c:ext>
          </c:extLst>
        </c:ser>
        <c:ser>
          <c:idx val="1"/>
          <c:order val="1"/>
          <c:tx>
            <c:strRef>
              <c:f>Sheet1!$C$1</c:f>
              <c:strCache>
                <c:ptCount val="1"/>
                <c:pt idx="0">
                  <c:v>Shortest path length</c:v>
                </c:pt>
              </c:strCache>
            </c:strRef>
          </c:tx>
          <c:spPr>
            <a:solidFill>
              <a:srgbClr val="2FA37A"/>
            </a:solidFill>
            <a:effectLst/>
          </c:spPr>
          <c:invertIfNegative val="0"/>
          <c:dLbls>
            <c:numFmt formatCode="#,##0" sourceLinked="0"/>
            <c:spPr>
              <a:noFill/>
              <a:ln>
                <a:noFill/>
              </a:ln>
              <a:effectLst/>
            </c:spPr>
            <c:txPr>
              <a:bodyPr/>
              <a:lstStyle/>
              <a:p>
                <a:pPr>
                  <a:defRPr sz="1600" b="1" i="0" u="none" strike="noStrike">
                    <a:solidFill>
                      <a:srgbClr val="24365B"/>
                    </a:solidFill>
                    <a:latin typeface="+mn-lt"/>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Sensor range 1</c:v>
                </c:pt>
                <c:pt idx="1">
                  <c:v>Sensor range 4</c:v>
                </c:pt>
              </c:strCache>
            </c:strRef>
          </c:cat>
          <c:val>
            <c:numRef>
              <c:f>Sheet1!$C$2:$C$3</c:f>
              <c:numCache>
                <c:formatCode>General</c:formatCode>
                <c:ptCount val="2"/>
                <c:pt idx="0">
                  <c:v>21</c:v>
                </c:pt>
                <c:pt idx="1">
                  <c:v>21</c:v>
                </c:pt>
              </c:numCache>
            </c:numRef>
          </c:val>
          <c:extLst>
            <c:ext xmlns:c16="http://schemas.microsoft.com/office/drawing/2014/chart" uri="{C3380CC4-5D6E-409C-BE32-E72D297353CC}">
              <c16:uniqueId val="{00000001-8820-714E-9689-BF0ED1CA8D7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24365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400">
              <a:solidFill>
                <a:srgbClr val="24365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8956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"Today we are going to help a robot called Doodlebot. Its friend Princess-Bot is lost in a maze, and Doodlebot has to find her all by itself. By the end of the lesson you will know how robots like Doodlebot find their way."
DO: Have the game open on the projector at the welcome page. Students sit in pairs with one device per pair (or watch the projector if devices are limited).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already know what AI is. What three things does an AI system like a robot need to do?" (sense, think, act). "Turn to your partner: how does a robot vacuum know where your couch is?" Give 1 minute, take 2 answers.
LOOK FOR: "it bumps into it", "it has sensors", "it has a camera". Say: "Exactly: it has to SENSE it. It can't just know."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are Doodlebot's brain! Doodlebot can only sense the squares right next to it. Everything black is unknown. Where should it go?" Let the class vote by pointing. Then click: "Let's see what Doodlebot senses after one step to the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"Doodlebot found a wall above. What do we know now that we didn't before?" (the map is growing). Take a vote again, then click.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"There she is! Doodlebot didn't SEE the whole maze. It found Princess-Bot because she came inside its sensor range. That's exactly how the real game works." Move on: this activity is 4 minutes max.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Doodlebot's world. Doodlebot is an autonomous robot: it decides how to move by itself, nobody drives it. Let's find out HOW it does that."
DO: Show the game welcome page on the projector, click Start Adventure! to open "How Doodlebot Thinks".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Play "How Doodlebot Thinks" steps 1 and 2 on the projector, pausing on each step.
SAY: "Doodlebot can't see the whole maze. So it does three things again and again. SENSE: it looks around inside its sensor circle, like a flashlight in a dark room. MAP: it remembers what it saw on its own map. MOVE: it heads to the closest place it hasn't explored yet, the orange ring, using only paths it already knows."
POINT at the pink card: "When Princess-Bot comes inside the sensor circle, Doodlebot gets excited, but it keeps exploring until there are no unexplored places left that it can reach."
TRANSITION: "Doodlebot has finished exploring! Now it knows enough to plan the rescue."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"Doodlebot has finished exploring! Now it knows enough to plan the rescue."
DO: Play "How Doodlebot Thinks" steps 3 and 4.
SAY: "First it goes back to the start. Then it PLANS: it searches its own map for the shortest path, the yellow squares, and draws it as a green line. Then it follows the path to rescue Princess-Bot, and it is happy."
POINT at the pink card: "If walls block every way, there is no path. Doodlebot is sad and asks for help. In the game you can open a path for it."
ASK: "Which map does Doodlebot plan with?" (its own map).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left map is what YOU built. Doodlebot can't see it! The right map is what Doodlebot knows. At the start it is almost all black."
ASK: "Which map does Doodlebot use to plan its path?" (its own map).
DO: In the game, show the Real world / Doodlebot's map / Both buttons above the maze.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"Scientists predict before they test. Circle your answers in part 1 of the worksheet. There is no wrong prediction!" Give 1 to 2 minutes.
DO NOT reveal the answer. Many students will predict a shorter path; that is the misconception the experiment will fix.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Pairs run the experiment (9 minutes). Walk around and check that both runs show the SAME Maze ID.
SUPPORT: If a pair is stuck, point to the steps on the slide. If the chat or voice is not needed, keep it closed.
FAST FINISHERS: try sensor 2 and 3 (surprise: 3 is a little slower than 2!), or load "Princess walled in" and predict what Doodlebot will 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Write the numbers pairs call out in the table (type into the empty cells, or use the whiteboard). Everyone should get 78 and 29 steps to finish mapping, and 21 and 21 for the path. If a pair is different, check their Maze ID.
ASK: "Which number changed? Which number stayed the same?" Then go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"Who predicted the path would be shorter? Great prediction, and now we know more! A bigger sensor helped Doodlebot discover THIS maze in fewer moves. But the shortest route to Princess-Bot stayed the same, because the maze itself did not change."
NOTE: these are the reference results for the Lesson maze (1X6Y) with BFS. Praise students for reporting what they actually measured. Avoid saying a bigger sensor ALWAYS helps: on this maze, sensor 3 needs a few more steps than sensor 2.
CHECK: ask 2 students to explain in their own words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"Look at the solid green lines. They are the same rescue path! The dotted blue line is Doodlebot's trail while EXPLORING, not its rescue path. With sensor 1 the trail is much longer, because Doodlebot had to drive closer to everything to sense it."
This is autonomous navigation: explore (sense, map, move), then plan and rescue, with no human driving.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Students write answers to the 3 questions on the worksheet (4 minutes). These answers and the recorded numbers are the evidence of learning.
SENTENCE STARTERS for students who need them: "Sensor 4 needed fewer steps because…", "The path was the same because…".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one of these robots does what Doodlebot does: sense, map, plan, move."
DO (2 minutes): Click Doodlebot in the game, press the microphone, and let one student ask: "Why did a bigger sensor help you?" Doodlebot answers out loud.
CLOSE: "Today you were robot scientists. You found out that a robot can only plan with what it has sensed."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rtlCol="0"/>
          <a:lstStyle>
            <a:lvl1pPr marL="0" indent="0">
              <a:buNone/>
              <a:defRPr lang="en-US" sz="3600" b="1" dirty="0">
                <a:solidFill>
                  <a:schemeClr val="tx1"/>
                </a:solidFill>
              </a:defRPr>
            </a:lvl1pPr>
          </a:lstStyle>
          <a:p>
            <a:pPr marL="0" indent="0">
              <a:buNone/>
            </a:pPr>
            <a:endParaRPr lang="en-US" sz="3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card"/>
          <p:cNvSpPr/>
          <p:nvPr/>
        </p:nvSpPr>
        <p:spPr>
          <a:xfrm>
            <a:off x="3367650" y="754381"/>
            <a:ext cx="5456699" cy="3063240"/>
          </a:xfrm>
          <a:prstGeom prst="roundRect">
            <a:avLst>
              <a:gd name="adj" fmla="val 10448"/>
            </a:avLst>
          </a:prstGeom>
          <a:solidFill>
            <a:schemeClr val="bg1">
              <a:alpha val="78000"/>
            </a:schemeClr>
          </a:solidFill>
          <a:ln w="12700">
            <a:solidFill>
              <a:schemeClr val="bg1"/>
            </a:solidFill>
            <a:prstDash val="solid"/>
          </a:ln>
        </p:spPr>
        <p:txBody>
          <a:bodyPr/>
          <a:lstStyle/>
          <a:p>
            <a:endParaRPr lang="en-SA"/>
          </a:p>
        </p:txBody>
      </p:sp>
      <p:sp>
        <p:nvSpPr>
          <p:cNvPr id="3" name="title"/>
          <p:cNvSpPr txBox="1"/>
          <p:nvPr/>
        </p:nvSpPr>
        <p:spPr>
          <a:xfrm>
            <a:off x="2934890" y="920178"/>
            <a:ext cx="6400800" cy="914400"/>
          </a:xfrm>
          <a:prstGeom prst="rect">
            <a:avLst/>
          </a:prstGeom>
          <a:noFill/>
          <a:ln/>
        </p:spPr>
        <p:txBody>
          <a:bodyPr wrap="square" lIns="0" tIns="0" rIns="0" bIns="0" rtlCol="0" anchor="ctr"/>
          <a:lstStyle/>
          <a:p>
            <a:pPr marL="0" indent="0" algn="ctr">
              <a:buNone/>
            </a:pPr>
            <a:r>
              <a:rPr lang="en-US" sz="5400" b="1" dirty="0">
                <a:solidFill>
                  <a:schemeClr val="tx1"/>
                </a:solidFill>
                <a:latin typeface="Century Schoolbook" pitchFamily="34" charset="0"/>
                <a:ea typeface="Century Schoolbook" pitchFamily="34" charset="-122"/>
                <a:cs typeface="Century Schoolbook" pitchFamily="34" charset="-120"/>
              </a:rPr>
              <a:t>Doodlebot</a:t>
            </a:r>
            <a:endParaRPr lang="en-US" sz="5400" dirty="0"/>
          </a:p>
        </p:txBody>
      </p:sp>
      <p:sp>
        <p:nvSpPr>
          <p:cNvPr id="4" name="subtitle"/>
          <p:cNvSpPr txBox="1"/>
          <p:nvPr/>
        </p:nvSpPr>
        <p:spPr>
          <a:xfrm>
            <a:off x="2815985" y="1780317"/>
            <a:ext cx="6400800" cy="640080"/>
          </a:xfrm>
          <a:prstGeom prst="rect">
            <a:avLst/>
          </a:prstGeom>
          <a:noFill/>
          <a:ln/>
        </p:spPr>
        <p:txBody>
          <a:bodyPr wrap="square" lIns="0" tIns="0" rIns="0" bIns="0" rtlCol="0" anchor="ctr"/>
          <a:lstStyle/>
          <a:p>
            <a:pPr marL="0" indent="0" algn="ctr">
              <a:buNone/>
            </a:pPr>
            <a:r>
              <a:rPr lang="en-US" sz="3200" b="1" dirty="0">
                <a:solidFill>
                  <a:schemeClr val="accent1"/>
                </a:solidFill>
                <a:latin typeface="Century Schoolbook" pitchFamily="34" charset="0"/>
                <a:ea typeface="Century Schoolbook" pitchFamily="34" charset="-122"/>
                <a:cs typeface="Century Schoolbook" pitchFamily="34" charset="-120"/>
              </a:rPr>
              <a:t> The Lost Kingdom</a:t>
            </a:r>
            <a:endParaRPr lang="en-US" sz="3200" dirty="0"/>
          </a:p>
        </p:txBody>
      </p:sp>
      <p:sp>
        <p:nvSpPr>
          <p:cNvPr id="5" name="question"/>
          <p:cNvSpPr txBox="1"/>
          <p:nvPr/>
        </p:nvSpPr>
        <p:spPr>
          <a:xfrm>
            <a:off x="2934890" y="2537460"/>
            <a:ext cx="6400800" cy="502920"/>
          </a:xfrm>
          <a:prstGeom prst="rect">
            <a:avLst/>
          </a:prstGeom>
          <a:noFill/>
          <a:ln/>
        </p:spPr>
        <p:txBody>
          <a:bodyPr wrap="square" lIns="0" tIns="0" rIns="0" bIns="0" rtlCol="0" anchor="ctr"/>
          <a:lstStyle/>
          <a:p>
            <a:pPr marL="0" indent="0" algn="ctr">
              <a:buNone/>
            </a:pPr>
            <a:r>
              <a:rPr lang="en-US" sz="2400" dirty="0">
                <a:solidFill>
                  <a:schemeClr val="tx1"/>
                </a:solidFill>
              </a:rPr>
              <a:t>How do robots find their way?</a:t>
            </a:r>
            <a:endParaRPr lang="en-US" sz="2400" dirty="0"/>
          </a:p>
        </p:txBody>
      </p:sp>
      <p:sp>
        <p:nvSpPr>
          <p:cNvPr id="6" name="meta"/>
          <p:cNvSpPr txBox="1"/>
          <p:nvPr/>
        </p:nvSpPr>
        <p:spPr>
          <a:xfrm>
            <a:off x="2934890" y="3091878"/>
            <a:ext cx="6400800" cy="411480"/>
          </a:xfrm>
          <a:prstGeom prst="rect">
            <a:avLst/>
          </a:prstGeom>
          <a:noFill/>
          <a:ln/>
        </p:spPr>
        <p:txBody>
          <a:bodyPr wrap="square" lIns="0" tIns="0" rIns="0" bIns="0" rtlCol="0" anchor="ctr"/>
          <a:lstStyle/>
          <a:p>
            <a:pPr marL="0" indent="0" algn="ctr">
              <a:buNone/>
            </a:pPr>
            <a:r>
              <a:rPr lang="en-US" sz="1600" dirty="0">
                <a:solidFill>
                  <a:schemeClr val="tx2"/>
                </a:solidFill>
              </a:rPr>
              <a:t>Grade 5  ·  30 minutes  ·  Autonomous navigation</a:t>
            </a:r>
            <a:endParaRPr lang="en-US" sz="1600" dirty="0"/>
          </a:p>
        </p:txBody>
      </p:sp>
      <p:pic>
        <p:nvPicPr>
          <p:cNvPr id="7" name="doodlebot-idle.png" descr="/home/claude/lesson/img/doodlebot-idle.png"/>
          <p:cNvPicPr>
            <a:picLocks noChangeAspect="1"/>
          </p:cNvPicPr>
          <p:nvPr/>
        </p:nvPicPr>
        <p:blipFill>
          <a:blip r:embed="rId3"/>
          <a:stretch>
            <a:fillRect/>
          </a:stretch>
        </p:blipFill>
        <p:spPr>
          <a:xfrm>
            <a:off x="2011680" y="4160520"/>
            <a:ext cx="1471226" cy="2286000"/>
          </a:xfrm>
          <a:prstGeom prst="rect">
            <a:avLst/>
          </a:prstGeom>
        </p:spPr>
      </p:pic>
      <p:pic>
        <p:nvPicPr>
          <p:cNvPr id="8" name="princess-lost.png" descr="/home/claude/lesson/img/princess-lost.png"/>
          <p:cNvPicPr>
            <a:picLocks noChangeAspect="1"/>
          </p:cNvPicPr>
          <p:nvPr/>
        </p:nvPicPr>
        <p:blipFill>
          <a:blip r:embed="rId4"/>
          <a:stretch>
            <a:fillRect/>
          </a:stretch>
        </p:blipFill>
        <p:spPr>
          <a:xfrm>
            <a:off x="9281160" y="4206240"/>
            <a:ext cx="836174" cy="1325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0" y="365760"/>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What makes a robot smart?</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3">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Warm-up · 6 min</a:t>
            </a:r>
            <a:endParaRPr lang="en-US" sz="1300" dirty="0"/>
          </a:p>
        </p:txBody>
      </p:sp>
      <p:sp>
        <p:nvSpPr>
          <p:cNvPr id="5" name="Sense card"/>
          <p:cNvSpPr/>
          <p:nvPr/>
        </p:nvSpPr>
        <p:spPr>
          <a:xfrm>
            <a:off x="1846101" y="1512468"/>
            <a:ext cx="2743200" cy="3429000"/>
          </a:xfrm>
          <a:prstGeom prst="roundRect">
            <a:avLst>
              <a:gd name="adj" fmla="val 6667"/>
            </a:avLst>
          </a:prstGeom>
          <a:solidFill>
            <a:schemeClr val="accent1">
              <a:alpha val="18000"/>
            </a:schemeClr>
          </a:solidFill>
          <a:ln/>
        </p:spPr>
        <p:txBody>
          <a:bodyPr/>
          <a:lstStyle/>
          <a:p>
            <a:endParaRPr lang="en-SA"/>
          </a:p>
        </p:txBody>
      </p:sp>
      <p:pic>
        <p:nvPicPr>
          <p:cNvPr id="6" name="doodlebot-curious.png" descr="/home/claude/lesson/img/doodlebot-curious.png"/>
          <p:cNvPicPr>
            <a:picLocks noChangeAspect="1"/>
          </p:cNvPicPr>
          <p:nvPr/>
        </p:nvPicPr>
        <p:blipFill>
          <a:blip r:embed="rId3"/>
          <a:stretch>
            <a:fillRect/>
          </a:stretch>
        </p:blipFill>
        <p:spPr>
          <a:xfrm>
            <a:off x="2532908" y="1741068"/>
            <a:ext cx="1369587" cy="1737360"/>
          </a:xfrm>
          <a:prstGeom prst="rect">
            <a:avLst/>
          </a:prstGeom>
        </p:spPr>
      </p:pic>
      <p:sp>
        <p:nvSpPr>
          <p:cNvPr id="7" name="Sense heading"/>
          <p:cNvSpPr txBox="1"/>
          <p:nvPr/>
        </p:nvSpPr>
        <p:spPr>
          <a:xfrm>
            <a:off x="1846101" y="3615588"/>
            <a:ext cx="2743200" cy="548640"/>
          </a:xfrm>
          <a:prstGeom prst="rect">
            <a:avLst/>
          </a:prstGeom>
          <a:noFill/>
          <a:ln/>
        </p:spPr>
        <p:txBody>
          <a:bodyPr wrap="square" lIns="0" tIns="0" rIns="0" bIns="0" rtlCol="0" anchor="t"/>
          <a:lstStyle/>
          <a:p>
            <a:pPr marL="0" indent="0" algn="ctr">
              <a:buNone/>
            </a:pPr>
            <a:r>
              <a:rPr lang="en-US" sz="2800" b="1" dirty="0">
                <a:solidFill>
                  <a:schemeClr val="tx1"/>
                </a:solidFill>
                <a:latin typeface="Century Schoolbook" pitchFamily="34" charset="0"/>
                <a:ea typeface="Century Schoolbook" pitchFamily="34" charset="-122"/>
                <a:cs typeface="Century Schoolbook" pitchFamily="34" charset="-120"/>
              </a:rPr>
              <a:t>Sense</a:t>
            </a:r>
            <a:endParaRPr lang="en-US" sz="2800" dirty="0"/>
          </a:p>
        </p:txBody>
      </p:sp>
      <p:sp>
        <p:nvSpPr>
          <p:cNvPr id="8" name="Sense text"/>
          <p:cNvSpPr txBox="1"/>
          <p:nvPr/>
        </p:nvSpPr>
        <p:spPr>
          <a:xfrm>
            <a:off x="2074701" y="4164228"/>
            <a:ext cx="2286000" cy="640080"/>
          </a:xfrm>
          <a:prstGeom prst="rect">
            <a:avLst/>
          </a:prstGeom>
          <a:noFill/>
          <a:ln/>
        </p:spPr>
        <p:txBody>
          <a:bodyPr wrap="square" lIns="0" tIns="0" rIns="0" bIns="0" rtlCol="0" anchor="t"/>
          <a:lstStyle/>
          <a:p>
            <a:pPr marL="0" indent="0" algn="ctr">
              <a:buNone/>
            </a:pPr>
            <a:r>
              <a:rPr lang="en-US" sz="1600" dirty="0">
                <a:solidFill>
                  <a:schemeClr val="tx2"/>
                </a:solidFill>
              </a:rPr>
              <a:t>It notices the world around it</a:t>
            </a:r>
            <a:endParaRPr lang="en-US" sz="1600" dirty="0"/>
          </a:p>
        </p:txBody>
      </p:sp>
      <p:sp>
        <p:nvSpPr>
          <p:cNvPr id="9" name="Think card"/>
          <p:cNvSpPr/>
          <p:nvPr/>
        </p:nvSpPr>
        <p:spPr>
          <a:xfrm>
            <a:off x="4817901" y="1512468"/>
            <a:ext cx="2743200" cy="3429000"/>
          </a:xfrm>
          <a:prstGeom prst="roundRect">
            <a:avLst>
              <a:gd name="adj" fmla="val 6667"/>
            </a:avLst>
          </a:prstGeom>
          <a:solidFill>
            <a:schemeClr val="accent5">
              <a:alpha val="18000"/>
            </a:schemeClr>
          </a:solidFill>
          <a:ln/>
        </p:spPr>
        <p:txBody>
          <a:bodyPr/>
          <a:lstStyle/>
          <a:p>
            <a:endParaRPr lang="en-SA"/>
          </a:p>
        </p:txBody>
      </p:sp>
      <p:pic>
        <p:nvPicPr>
          <p:cNvPr id="10" name="doodlebot-thinking.png" descr="/home/claude/lesson/img/doodlebot-thinking.png"/>
          <p:cNvPicPr>
            <a:picLocks noChangeAspect="1"/>
          </p:cNvPicPr>
          <p:nvPr/>
        </p:nvPicPr>
        <p:blipFill>
          <a:blip r:embed="rId4"/>
          <a:stretch>
            <a:fillRect/>
          </a:stretch>
        </p:blipFill>
        <p:spPr>
          <a:xfrm>
            <a:off x="5630959" y="1741068"/>
            <a:ext cx="1117084" cy="1737360"/>
          </a:xfrm>
          <a:prstGeom prst="rect">
            <a:avLst/>
          </a:prstGeom>
        </p:spPr>
      </p:pic>
      <p:sp>
        <p:nvSpPr>
          <p:cNvPr id="11" name="Think heading"/>
          <p:cNvSpPr txBox="1"/>
          <p:nvPr/>
        </p:nvSpPr>
        <p:spPr>
          <a:xfrm>
            <a:off x="4817901" y="3615588"/>
            <a:ext cx="2743200" cy="548640"/>
          </a:xfrm>
          <a:prstGeom prst="rect">
            <a:avLst/>
          </a:prstGeom>
          <a:noFill/>
          <a:ln/>
        </p:spPr>
        <p:txBody>
          <a:bodyPr wrap="square" lIns="0" tIns="0" rIns="0" bIns="0" rtlCol="0" anchor="t"/>
          <a:lstStyle/>
          <a:p>
            <a:pPr marL="0" indent="0" algn="ctr">
              <a:buNone/>
            </a:pPr>
            <a:r>
              <a:rPr lang="en-US" sz="2800" b="1" dirty="0">
                <a:solidFill>
                  <a:schemeClr val="tx1"/>
                </a:solidFill>
                <a:latin typeface="Century Schoolbook" pitchFamily="34" charset="0"/>
                <a:ea typeface="Century Schoolbook" pitchFamily="34" charset="-122"/>
                <a:cs typeface="Century Schoolbook" pitchFamily="34" charset="-120"/>
              </a:rPr>
              <a:t>Think</a:t>
            </a:r>
            <a:endParaRPr lang="en-US" sz="2800" dirty="0"/>
          </a:p>
        </p:txBody>
      </p:sp>
      <p:sp>
        <p:nvSpPr>
          <p:cNvPr id="12" name="Think text"/>
          <p:cNvSpPr txBox="1"/>
          <p:nvPr/>
        </p:nvSpPr>
        <p:spPr>
          <a:xfrm>
            <a:off x="5046501" y="4164228"/>
            <a:ext cx="2286000" cy="640080"/>
          </a:xfrm>
          <a:prstGeom prst="rect">
            <a:avLst/>
          </a:prstGeom>
          <a:noFill/>
          <a:ln/>
        </p:spPr>
        <p:txBody>
          <a:bodyPr wrap="square" lIns="0" tIns="0" rIns="0" bIns="0" rtlCol="0" anchor="t"/>
          <a:lstStyle/>
          <a:p>
            <a:pPr marL="0" indent="0" algn="ctr">
              <a:buNone/>
            </a:pPr>
            <a:r>
              <a:rPr lang="en-US" sz="1600" dirty="0">
                <a:solidFill>
                  <a:schemeClr val="tx2"/>
                </a:solidFill>
              </a:rPr>
              <a:t>It decides what to do</a:t>
            </a:r>
            <a:endParaRPr lang="en-US" sz="1600" dirty="0"/>
          </a:p>
        </p:txBody>
      </p:sp>
      <p:sp>
        <p:nvSpPr>
          <p:cNvPr id="13" name="Act card"/>
          <p:cNvSpPr/>
          <p:nvPr/>
        </p:nvSpPr>
        <p:spPr>
          <a:xfrm>
            <a:off x="7789701" y="1512468"/>
            <a:ext cx="2743200" cy="3429000"/>
          </a:xfrm>
          <a:prstGeom prst="roundRect">
            <a:avLst>
              <a:gd name="adj" fmla="val 6667"/>
            </a:avLst>
          </a:prstGeom>
          <a:solidFill>
            <a:schemeClr val="accent2">
              <a:alpha val="18000"/>
            </a:schemeClr>
          </a:solidFill>
          <a:ln/>
        </p:spPr>
        <p:txBody>
          <a:bodyPr/>
          <a:lstStyle/>
          <a:p>
            <a:endParaRPr lang="en-SA"/>
          </a:p>
        </p:txBody>
      </p:sp>
      <p:pic>
        <p:nvPicPr>
          <p:cNvPr id="14" name="doodlebot-happy.png" descr="/home/claude/lesson/img/doodlebot-happy.png"/>
          <p:cNvPicPr>
            <a:picLocks noChangeAspect="1"/>
          </p:cNvPicPr>
          <p:nvPr/>
        </p:nvPicPr>
        <p:blipFill>
          <a:blip r:embed="rId5"/>
          <a:stretch>
            <a:fillRect/>
          </a:stretch>
        </p:blipFill>
        <p:spPr>
          <a:xfrm>
            <a:off x="8588295" y="1741068"/>
            <a:ext cx="1146012" cy="1737360"/>
          </a:xfrm>
          <a:prstGeom prst="rect">
            <a:avLst/>
          </a:prstGeom>
        </p:spPr>
      </p:pic>
      <p:sp>
        <p:nvSpPr>
          <p:cNvPr id="15" name="Act heading"/>
          <p:cNvSpPr txBox="1"/>
          <p:nvPr/>
        </p:nvSpPr>
        <p:spPr>
          <a:xfrm>
            <a:off x="7789701" y="3615588"/>
            <a:ext cx="2743200" cy="548640"/>
          </a:xfrm>
          <a:prstGeom prst="rect">
            <a:avLst/>
          </a:prstGeom>
          <a:noFill/>
          <a:ln/>
        </p:spPr>
        <p:txBody>
          <a:bodyPr wrap="square" lIns="0" tIns="0" rIns="0" bIns="0" rtlCol="0" anchor="t"/>
          <a:lstStyle/>
          <a:p>
            <a:pPr marL="0" indent="0" algn="ctr">
              <a:buNone/>
            </a:pPr>
            <a:r>
              <a:rPr lang="en-US" sz="2800" b="1" dirty="0">
                <a:solidFill>
                  <a:schemeClr val="tx1"/>
                </a:solidFill>
                <a:latin typeface="Century Schoolbook" pitchFamily="34" charset="0"/>
                <a:ea typeface="Century Schoolbook" pitchFamily="34" charset="-122"/>
                <a:cs typeface="Century Schoolbook" pitchFamily="34" charset="-120"/>
              </a:rPr>
              <a:t>Act</a:t>
            </a:r>
            <a:endParaRPr lang="en-US" sz="2800" dirty="0"/>
          </a:p>
        </p:txBody>
      </p:sp>
      <p:sp>
        <p:nvSpPr>
          <p:cNvPr id="16" name="Act text"/>
          <p:cNvSpPr txBox="1"/>
          <p:nvPr/>
        </p:nvSpPr>
        <p:spPr>
          <a:xfrm>
            <a:off x="8018301" y="4164228"/>
            <a:ext cx="2286000" cy="640080"/>
          </a:xfrm>
          <a:prstGeom prst="rect">
            <a:avLst/>
          </a:prstGeom>
          <a:noFill/>
          <a:ln/>
        </p:spPr>
        <p:txBody>
          <a:bodyPr wrap="square" lIns="0" tIns="0" rIns="0" bIns="0" rtlCol="0" anchor="t"/>
          <a:lstStyle/>
          <a:p>
            <a:pPr marL="0" indent="0" algn="ctr">
              <a:buNone/>
            </a:pPr>
            <a:r>
              <a:rPr lang="en-US" sz="1600" dirty="0">
                <a:solidFill>
                  <a:schemeClr val="tx2"/>
                </a:solidFill>
              </a:rPr>
              <a:t>It moves or does something</a:t>
            </a:r>
            <a:endParaRPr lang="en-US" sz="1600" dirty="0"/>
          </a:p>
        </p:txBody>
      </p:sp>
      <p:sp>
        <p:nvSpPr>
          <p:cNvPr id="18" name="pair label"/>
          <p:cNvSpPr txBox="1"/>
          <p:nvPr/>
        </p:nvSpPr>
        <p:spPr>
          <a:xfrm>
            <a:off x="5450582" y="5212080"/>
            <a:ext cx="1737360" cy="457200"/>
          </a:xfrm>
          <a:prstGeom prst="rect">
            <a:avLst/>
          </a:prstGeom>
          <a:noFill/>
          <a:ln/>
        </p:spPr>
        <p:txBody>
          <a:bodyPr wrap="square" lIns="0" tIns="0" rIns="0" bIns="0" rtlCol="0" anchor="t"/>
          <a:lstStyle/>
          <a:p>
            <a:pPr marL="0" indent="0">
              <a:buNone/>
            </a:pPr>
            <a:r>
              <a:rPr lang="en-US" sz="1400" b="1" dirty="0">
                <a:solidFill>
                  <a:schemeClr val="tx2"/>
                </a:solidFill>
              </a:rPr>
              <a:t>Turn to your partner</a:t>
            </a:r>
            <a:endParaRPr lang="en-US" sz="1400" dirty="0"/>
          </a:p>
        </p:txBody>
      </p:sp>
      <p:sp>
        <p:nvSpPr>
          <p:cNvPr id="19" name="pair question"/>
          <p:cNvSpPr txBox="1"/>
          <p:nvPr/>
        </p:nvSpPr>
        <p:spPr>
          <a:xfrm>
            <a:off x="2606040" y="5546948"/>
            <a:ext cx="7315200" cy="548640"/>
          </a:xfrm>
          <a:prstGeom prst="rect">
            <a:avLst/>
          </a:prstGeom>
          <a:noFill/>
          <a:ln/>
        </p:spPr>
        <p:txBody>
          <a:bodyPr wrap="square" lIns="0" tIns="0" rIns="0" bIns="0" rtlCol="0" anchor="t"/>
          <a:lstStyle/>
          <a:p>
            <a:pPr marL="0" indent="0">
              <a:buNone/>
            </a:pPr>
            <a:r>
              <a:rPr lang="en-US" sz="2000" b="1" dirty="0">
                <a:solidFill>
                  <a:schemeClr val="tx1"/>
                </a:solidFill>
                <a:latin typeface="Century Schoolbook" pitchFamily="34" charset="0"/>
                <a:ea typeface="Century Schoolbook" pitchFamily="34" charset="-122"/>
                <a:cs typeface="Century Schoolbook" pitchFamily="34" charset="-120"/>
              </a:rPr>
              <a:t>How does a robot vacuum know where your couch is?</a:t>
            </a:r>
            <a:endParaRPr lang="en-US" sz="2000" dirty="0"/>
          </a:p>
        </p:txBody>
      </p:sp>
      <p:sp>
        <p:nvSpPr>
          <p:cNvPr id="20" name="reminder"/>
          <p:cNvSpPr txBox="1"/>
          <p:nvPr/>
        </p:nvSpPr>
        <p:spPr>
          <a:xfrm>
            <a:off x="4139166" y="6059012"/>
            <a:ext cx="8595360" cy="457200"/>
          </a:xfrm>
          <a:prstGeom prst="rect">
            <a:avLst/>
          </a:prstGeom>
          <a:noFill/>
          <a:ln/>
        </p:spPr>
        <p:txBody>
          <a:bodyPr wrap="square" lIns="0" tIns="0" rIns="0" bIns="0" rtlCol="0" anchor="t"/>
          <a:lstStyle/>
          <a:p>
            <a:pPr marL="0" indent="0">
              <a:buNone/>
            </a:pPr>
            <a:r>
              <a:rPr lang="en-US" sz="1800" dirty="0">
                <a:solidFill>
                  <a:schemeClr val="tx2"/>
                </a:solidFill>
              </a:rPr>
              <a:t>Remember: AI systems sense, think and act.</a:t>
            </a:r>
            <a:endParaRPr lang="en-US" sz="18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Mystery Map · turn 1</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3">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Warm-up · 6 min</a:t>
            </a:r>
            <a:endParaRPr lang="en-US" sz="1300" dirty="0"/>
          </a:p>
        </p:txBody>
      </p:sp>
      <p:sp>
        <p:nvSpPr>
          <p:cNvPr id="5" name="cell 0,0"/>
          <p:cNvSpPr/>
          <p:nvPr/>
        </p:nvSpPr>
        <p:spPr>
          <a:xfrm>
            <a:off x="859536" y="1453896"/>
            <a:ext cx="841248" cy="841248"/>
          </a:xfrm>
          <a:prstGeom prst="roundRect">
            <a:avLst>
              <a:gd name="adj" fmla="val 10870"/>
            </a:avLst>
          </a:prstGeom>
          <a:solidFill>
            <a:srgbClr val="10132A"/>
          </a:solidFill>
          <a:ln/>
        </p:spPr>
        <p:txBody>
          <a:bodyPr/>
          <a:lstStyle/>
          <a:p>
            <a:endParaRPr lang="en-SA"/>
          </a:p>
        </p:txBody>
      </p:sp>
      <p:sp>
        <p:nvSpPr>
          <p:cNvPr id="6" name="cell 1,0"/>
          <p:cNvSpPr/>
          <p:nvPr/>
        </p:nvSpPr>
        <p:spPr>
          <a:xfrm>
            <a:off x="1773936" y="1453896"/>
            <a:ext cx="841248" cy="841248"/>
          </a:xfrm>
          <a:prstGeom prst="roundRect">
            <a:avLst>
              <a:gd name="adj" fmla="val 10870"/>
            </a:avLst>
          </a:prstGeom>
          <a:solidFill>
            <a:srgbClr val="10132A"/>
          </a:solidFill>
          <a:ln/>
        </p:spPr>
        <p:txBody>
          <a:bodyPr/>
          <a:lstStyle/>
          <a:p>
            <a:endParaRPr lang="en-SA"/>
          </a:p>
        </p:txBody>
      </p:sp>
      <p:sp>
        <p:nvSpPr>
          <p:cNvPr id="7" name="cell 2,0"/>
          <p:cNvSpPr/>
          <p:nvPr/>
        </p:nvSpPr>
        <p:spPr>
          <a:xfrm>
            <a:off x="2688336" y="1453896"/>
            <a:ext cx="841248" cy="841248"/>
          </a:xfrm>
          <a:prstGeom prst="roundRect">
            <a:avLst>
              <a:gd name="adj" fmla="val 10870"/>
            </a:avLst>
          </a:prstGeom>
          <a:solidFill>
            <a:srgbClr val="10132A"/>
          </a:solidFill>
          <a:ln/>
        </p:spPr>
        <p:txBody>
          <a:bodyPr/>
          <a:lstStyle/>
          <a:p>
            <a:endParaRPr lang="en-SA"/>
          </a:p>
        </p:txBody>
      </p:sp>
      <p:sp>
        <p:nvSpPr>
          <p:cNvPr id="8" name="cell 3,0"/>
          <p:cNvSpPr/>
          <p:nvPr/>
        </p:nvSpPr>
        <p:spPr>
          <a:xfrm>
            <a:off x="3602736" y="1453896"/>
            <a:ext cx="841248" cy="841248"/>
          </a:xfrm>
          <a:prstGeom prst="roundRect">
            <a:avLst>
              <a:gd name="adj" fmla="val 10870"/>
            </a:avLst>
          </a:prstGeom>
          <a:solidFill>
            <a:srgbClr val="10132A"/>
          </a:solidFill>
          <a:ln/>
        </p:spPr>
        <p:txBody>
          <a:bodyPr/>
          <a:lstStyle/>
          <a:p>
            <a:endParaRPr lang="en-SA"/>
          </a:p>
        </p:txBody>
      </p:sp>
      <p:sp>
        <p:nvSpPr>
          <p:cNvPr id="9" name="cell 4,0"/>
          <p:cNvSpPr/>
          <p:nvPr/>
        </p:nvSpPr>
        <p:spPr>
          <a:xfrm>
            <a:off x="4517136" y="1453896"/>
            <a:ext cx="841248" cy="841248"/>
          </a:xfrm>
          <a:prstGeom prst="roundRect">
            <a:avLst>
              <a:gd name="adj" fmla="val 10870"/>
            </a:avLst>
          </a:prstGeom>
          <a:solidFill>
            <a:srgbClr val="10132A"/>
          </a:solidFill>
          <a:ln/>
        </p:spPr>
        <p:txBody>
          <a:bodyPr/>
          <a:lstStyle/>
          <a:p>
            <a:endParaRPr lang="en-SA"/>
          </a:p>
        </p:txBody>
      </p:sp>
      <p:sp>
        <p:nvSpPr>
          <p:cNvPr id="10" name="cell 0,1"/>
          <p:cNvSpPr/>
          <p:nvPr/>
        </p:nvSpPr>
        <p:spPr>
          <a:xfrm>
            <a:off x="859536" y="2368296"/>
            <a:ext cx="841248" cy="841248"/>
          </a:xfrm>
          <a:prstGeom prst="roundRect">
            <a:avLst>
              <a:gd name="adj" fmla="val 10870"/>
            </a:avLst>
          </a:prstGeom>
          <a:solidFill>
            <a:srgbClr val="EEF9F3"/>
          </a:solidFill>
          <a:ln/>
        </p:spPr>
        <p:txBody>
          <a:bodyPr/>
          <a:lstStyle/>
          <a:p>
            <a:endParaRPr lang="en-SA"/>
          </a:p>
        </p:txBody>
      </p:sp>
      <p:sp>
        <p:nvSpPr>
          <p:cNvPr id="11" name="cell 1,1"/>
          <p:cNvSpPr/>
          <p:nvPr/>
        </p:nvSpPr>
        <p:spPr>
          <a:xfrm>
            <a:off x="1773936" y="2368296"/>
            <a:ext cx="841248" cy="841248"/>
          </a:xfrm>
          <a:prstGeom prst="roundRect">
            <a:avLst>
              <a:gd name="adj" fmla="val 10870"/>
            </a:avLst>
          </a:prstGeom>
          <a:solidFill>
            <a:srgbClr val="56648C"/>
          </a:solidFill>
          <a:ln/>
        </p:spPr>
        <p:txBody>
          <a:bodyPr/>
          <a:lstStyle/>
          <a:p>
            <a:endParaRPr lang="en-SA"/>
          </a:p>
        </p:txBody>
      </p:sp>
      <p:sp>
        <p:nvSpPr>
          <p:cNvPr id="12" name="cell 2,1"/>
          <p:cNvSpPr/>
          <p:nvPr/>
        </p:nvSpPr>
        <p:spPr>
          <a:xfrm>
            <a:off x="2688336" y="2368296"/>
            <a:ext cx="841248" cy="841248"/>
          </a:xfrm>
          <a:prstGeom prst="roundRect">
            <a:avLst>
              <a:gd name="adj" fmla="val 10870"/>
            </a:avLst>
          </a:prstGeom>
          <a:solidFill>
            <a:srgbClr val="10132A"/>
          </a:solidFill>
          <a:ln/>
        </p:spPr>
        <p:txBody>
          <a:bodyPr/>
          <a:lstStyle/>
          <a:p>
            <a:endParaRPr lang="en-SA">
              <a:solidFill>
                <a:srgbClr val="101329"/>
              </a:solidFill>
            </a:endParaRPr>
          </a:p>
        </p:txBody>
      </p:sp>
      <p:sp>
        <p:nvSpPr>
          <p:cNvPr id="13" name="cell 3,1"/>
          <p:cNvSpPr/>
          <p:nvPr/>
        </p:nvSpPr>
        <p:spPr>
          <a:xfrm>
            <a:off x="3602736" y="2368296"/>
            <a:ext cx="841248" cy="841248"/>
          </a:xfrm>
          <a:prstGeom prst="roundRect">
            <a:avLst>
              <a:gd name="adj" fmla="val 10870"/>
            </a:avLst>
          </a:prstGeom>
          <a:solidFill>
            <a:srgbClr val="10132A"/>
          </a:solidFill>
          <a:ln/>
        </p:spPr>
        <p:txBody>
          <a:bodyPr/>
          <a:lstStyle/>
          <a:p>
            <a:endParaRPr lang="en-SA"/>
          </a:p>
        </p:txBody>
      </p:sp>
      <p:sp>
        <p:nvSpPr>
          <p:cNvPr id="14" name="cell 4,1"/>
          <p:cNvSpPr/>
          <p:nvPr/>
        </p:nvSpPr>
        <p:spPr>
          <a:xfrm>
            <a:off x="4517136" y="2368296"/>
            <a:ext cx="841248" cy="841248"/>
          </a:xfrm>
          <a:prstGeom prst="roundRect">
            <a:avLst>
              <a:gd name="adj" fmla="val 10870"/>
            </a:avLst>
          </a:prstGeom>
          <a:solidFill>
            <a:srgbClr val="10132A"/>
          </a:solidFill>
          <a:ln/>
        </p:spPr>
        <p:txBody>
          <a:bodyPr/>
          <a:lstStyle/>
          <a:p>
            <a:endParaRPr lang="en-SA"/>
          </a:p>
        </p:txBody>
      </p:sp>
      <p:sp>
        <p:nvSpPr>
          <p:cNvPr id="15" name="cell 0,2"/>
          <p:cNvSpPr/>
          <p:nvPr/>
        </p:nvSpPr>
        <p:spPr>
          <a:xfrm>
            <a:off x="859536" y="3282696"/>
            <a:ext cx="841248" cy="841248"/>
          </a:xfrm>
          <a:prstGeom prst="roundRect">
            <a:avLst>
              <a:gd name="adj" fmla="val 10870"/>
            </a:avLst>
          </a:prstGeom>
          <a:solidFill>
            <a:srgbClr val="EEF9F3"/>
          </a:solidFill>
          <a:ln/>
        </p:spPr>
        <p:txBody>
          <a:bodyPr/>
          <a:lstStyle/>
          <a:p>
            <a:endParaRPr lang="en-SA"/>
          </a:p>
        </p:txBody>
      </p:sp>
      <p:sp>
        <p:nvSpPr>
          <p:cNvPr id="16" name="cell 1,2"/>
          <p:cNvSpPr/>
          <p:nvPr/>
        </p:nvSpPr>
        <p:spPr>
          <a:xfrm>
            <a:off x="1773936" y="3282696"/>
            <a:ext cx="841248" cy="841248"/>
          </a:xfrm>
          <a:prstGeom prst="roundRect">
            <a:avLst>
              <a:gd name="adj" fmla="val 10870"/>
            </a:avLst>
          </a:prstGeom>
          <a:solidFill>
            <a:srgbClr val="EEF9F3"/>
          </a:solidFill>
          <a:ln/>
        </p:spPr>
        <p:txBody>
          <a:bodyPr/>
          <a:lstStyle/>
          <a:p>
            <a:endParaRPr lang="en-SA"/>
          </a:p>
        </p:txBody>
      </p:sp>
      <p:sp>
        <p:nvSpPr>
          <p:cNvPr id="17" name="cell 2,2"/>
          <p:cNvSpPr/>
          <p:nvPr/>
        </p:nvSpPr>
        <p:spPr>
          <a:xfrm>
            <a:off x="2688336" y="3282696"/>
            <a:ext cx="841248" cy="841248"/>
          </a:xfrm>
          <a:prstGeom prst="roundRect">
            <a:avLst>
              <a:gd name="adj" fmla="val 10870"/>
            </a:avLst>
          </a:prstGeom>
          <a:solidFill>
            <a:srgbClr val="10132A"/>
          </a:solidFill>
          <a:ln/>
        </p:spPr>
        <p:txBody>
          <a:bodyPr/>
          <a:lstStyle/>
          <a:p>
            <a:endParaRPr lang="en-SA"/>
          </a:p>
        </p:txBody>
      </p:sp>
      <p:sp>
        <p:nvSpPr>
          <p:cNvPr id="18" name="cell 3,2"/>
          <p:cNvSpPr/>
          <p:nvPr/>
        </p:nvSpPr>
        <p:spPr>
          <a:xfrm>
            <a:off x="3602736" y="3282696"/>
            <a:ext cx="841248" cy="841248"/>
          </a:xfrm>
          <a:prstGeom prst="roundRect">
            <a:avLst>
              <a:gd name="adj" fmla="val 10870"/>
            </a:avLst>
          </a:prstGeom>
          <a:solidFill>
            <a:srgbClr val="10132A"/>
          </a:solidFill>
          <a:ln/>
        </p:spPr>
        <p:txBody>
          <a:bodyPr/>
          <a:lstStyle/>
          <a:p>
            <a:endParaRPr lang="en-SA"/>
          </a:p>
        </p:txBody>
      </p:sp>
      <p:sp>
        <p:nvSpPr>
          <p:cNvPr id="19" name="cell 4,2"/>
          <p:cNvSpPr/>
          <p:nvPr/>
        </p:nvSpPr>
        <p:spPr>
          <a:xfrm>
            <a:off x="4517136" y="3282696"/>
            <a:ext cx="841248" cy="841248"/>
          </a:xfrm>
          <a:prstGeom prst="roundRect">
            <a:avLst>
              <a:gd name="adj" fmla="val 10870"/>
            </a:avLst>
          </a:prstGeom>
          <a:solidFill>
            <a:srgbClr val="10132A"/>
          </a:solidFill>
          <a:ln/>
        </p:spPr>
        <p:txBody>
          <a:bodyPr/>
          <a:lstStyle/>
          <a:p>
            <a:endParaRPr lang="en-SA"/>
          </a:p>
        </p:txBody>
      </p:sp>
      <p:sp>
        <p:nvSpPr>
          <p:cNvPr id="20" name="cell 0,3"/>
          <p:cNvSpPr/>
          <p:nvPr/>
        </p:nvSpPr>
        <p:spPr>
          <a:xfrm>
            <a:off x="859536" y="4197096"/>
            <a:ext cx="841248" cy="841248"/>
          </a:xfrm>
          <a:prstGeom prst="roundRect">
            <a:avLst>
              <a:gd name="adj" fmla="val 10870"/>
            </a:avLst>
          </a:prstGeom>
          <a:solidFill>
            <a:srgbClr val="EEF9F3"/>
          </a:solidFill>
          <a:ln/>
        </p:spPr>
        <p:txBody>
          <a:bodyPr/>
          <a:lstStyle/>
          <a:p>
            <a:endParaRPr lang="en-SA"/>
          </a:p>
        </p:txBody>
      </p:sp>
      <p:sp>
        <p:nvSpPr>
          <p:cNvPr id="21" name="cell 1,3"/>
          <p:cNvSpPr/>
          <p:nvPr/>
        </p:nvSpPr>
        <p:spPr>
          <a:xfrm>
            <a:off x="1773936" y="4197096"/>
            <a:ext cx="841248" cy="841248"/>
          </a:xfrm>
          <a:prstGeom prst="roundRect">
            <a:avLst>
              <a:gd name="adj" fmla="val 10870"/>
            </a:avLst>
          </a:prstGeom>
          <a:solidFill>
            <a:srgbClr val="EEF9F3"/>
          </a:solidFill>
          <a:ln/>
        </p:spPr>
        <p:txBody>
          <a:bodyPr/>
          <a:lstStyle/>
          <a:p>
            <a:endParaRPr lang="en-SA"/>
          </a:p>
        </p:txBody>
      </p:sp>
      <p:sp>
        <p:nvSpPr>
          <p:cNvPr id="22" name="cell 2,3"/>
          <p:cNvSpPr/>
          <p:nvPr/>
        </p:nvSpPr>
        <p:spPr>
          <a:xfrm>
            <a:off x="2688336" y="4197096"/>
            <a:ext cx="841248" cy="841248"/>
          </a:xfrm>
          <a:prstGeom prst="roundRect">
            <a:avLst>
              <a:gd name="adj" fmla="val 10870"/>
            </a:avLst>
          </a:prstGeom>
          <a:solidFill>
            <a:srgbClr val="10132A"/>
          </a:solidFill>
          <a:ln/>
        </p:spPr>
        <p:txBody>
          <a:bodyPr/>
          <a:lstStyle/>
          <a:p>
            <a:endParaRPr lang="en-SA"/>
          </a:p>
        </p:txBody>
      </p:sp>
      <p:sp>
        <p:nvSpPr>
          <p:cNvPr id="23" name="cell 3,3"/>
          <p:cNvSpPr/>
          <p:nvPr/>
        </p:nvSpPr>
        <p:spPr>
          <a:xfrm>
            <a:off x="3602736" y="4197096"/>
            <a:ext cx="841248" cy="841248"/>
          </a:xfrm>
          <a:prstGeom prst="roundRect">
            <a:avLst>
              <a:gd name="adj" fmla="val 10870"/>
            </a:avLst>
          </a:prstGeom>
          <a:solidFill>
            <a:srgbClr val="10132A"/>
          </a:solidFill>
          <a:ln/>
        </p:spPr>
        <p:txBody>
          <a:bodyPr/>
          <a:lstStyle/>
          <a:p>
            <a:endParaRPr lang="en-SA"/>
          </a:p>
        </p:txBody>
      </p:sp>
      <p:sp>
        <p:nvSpPr>
          <p:cNvPr id="24" name="cell 4,3"/>
          <p:cNvSpPr/>
          <p:nvPr/>
        </p:nvSpPr>
        <p:spPr>
          <a:xfrm>
            <a:off x="4517136" y="4197096"/>
            <a:ext cx="841248" cy="841248"/>
          </a:xfrm>
          <a:prstGeom prst="roundRect">
            <a:avLst>
              <a:gd name="adj" fmla="val 10870"/>
            </a:avLst>
          </a:prstGeom>
          <a:solidFill>
            <a:srgbClr val="10132A"/>
          </a:solidFill>
          <a:ln/>
        </p:spPr>
        <p:txBody>
          <a:bodyPr/>
          <a:lstStyle/>
          <a:p>
            <a:endParaRPr lang="en-SA"/>
          </a:p>
        </p:txBody>
      </p:sp>
      <p:sp>
        <p:nvSpPr>
          <p:cNvPr id="25" name="cell 0,4"/>
          <p:cNvSpPr/>
          <p:nvPr/>
        </p:nvSpPr>
        <p:spPr>
          <a:xfrm>
            <a:off x="859536" y="5111496"/>
            <a:ext cx="841248" cy="841248"/>
          </a:xfrm>
          <a:prstGeom prst="roundRect">
            <a:avLst>
              <a:gd name="adj" fmla="val 10870"/>
            </a:avLst>
          </a:prstGeom>
          <a:solidFill>
            <a:srgbClr val="10132A"/>
          </a:solidFill>
          <a:ln/>
        </p:spPr>
        <p:txBody>
          <a:bodyPr/>
          <a:lstStyle/>
          <a:p>
            <a:endParaRPr lang="en-SA"/>
          </a:p>
        </p:txBody>
      </p:sp>
      <p:sp>
        <p:nvSpPr>
          <p:cNvPr id="26" name="cell 1,4"/>
          <p:cNvSpPr/>
          <p:nvPr/>
        </p:nvSpPr>
        <p:spPr>
          <a:xfrm>
            <a:off x="1773936" y="5111496"/>
            <a:ext cx="841248" cy="841248"/>
          </a:xfrm>
          <a:prstGeom prst="roundRect">
            <a:avLst>
              <a:gd name="adj" fmla="val 10870"/>
            </a:avLst>
          </a:prstGeom>
          <a:solidFill>
            <a:srgbClr val="10132A"/>
          </a:solidFill>
          <a:ln/>
        </p:spPr>
        <p:txBody>
          <a:bodyPr/>
          <a:lstStyle/>
          <a:p>
            <a:endParaRPr lang="en-SA"/>
          </a:p>
        </p:txBody>
      </p:sp>
      <p:sp>
        <p:nvSpPr>
          <p:cNvPr id="27" name="cell 2,4"/>
          <p:cNvSpPr/>
          <p:nvPr/>
        </p:nvSpPr>
        <p:spPr>
          <a:xfrm>
            <a:off x="2688336" y="5111496"/>
            <a:ext cx="841248" cy="841248"/>
          </a:xfrm>
          <a:prstGeom prst="roundRect">
            <a:avLst>
              <a:gd name="adj" fmla="val 10870"/>
            </a:avLst>
          </a:prstGeom>
          <a:solidFill>
            <a:srgbClr val="10132A"/>
          </a:solidFill>
          <a:ln/>
        </p:spPr>
        <p:txBody>
          <a:bodyPr/>
          <a:lstStyle/>
          <a:p>
            <a:endParaRPr lang="en-SA"/>
          </a:p>
        </p:txBody>
      </p:sp>
      <p:sp>
        <p:nvSpPr>
          <p:cNvPr id="28" name="cell 3,4"/>
          <p:cNvSpPr/>
          <p:nvPr/>
        </p:nvSpPr>
        <p:spPr>
          <a:xfrm>
            <a:off x="3602736" y="5111496"/>
            <a:ext cx="841248" cy="841248"/>
          </a:xfrm>
          <a:prstGeom prst="roundRect">
            <a:avLst>
              <a:gd name="adj" fmla="val 10870"/>
            </a:avLst>
          </a:prstGeom>
          <a:solidFill>
            <a:srgbClr val="10132A"/>
          </a:solidFill>
          <a:ln/>
        </p:spPr>
        <p:txBody>
          <a:bodyPr/>
          <a:lstStyle/>
          <a:p>
            <a:endParaRPr lang="en-SA"/>
          </a:p>
        </p:txBody>
      </p:sp>
      <p:sp>
        <p:nvSpPr>
          <p:cNvPr id="29" name="cell 4,4"/>
          <p:cNvSpPr/>
          <p:nvPr/>
        </p:nvSpPr>
        <p:spPr>
          <a:xfrm>
            <a:off x="4517136" y="5111496"/>
            <a:ext cx="841248" cy="841248"/>
          </a:xfrm>
          <a:prstGeom prst="roundRect">
            <a:avLst>
              <a:gd name="adj" fmla="val 10870"/>
            </a:avLst>
          </a:prstGeom>
          <a:solidFill>
            <a:srgbClr val="10132A"/>
          </a:solidFill>
          <a:ln/>
        </p:spPr>
        <p:txBody>
          <a:bodyPr/>
          <a:lstStyle/>
          <a:p>
            <a:endParaRPr lang="en-SA"/>
          </a:p>
        </p:txBody>
      </p:sp>
      <p:pic>
        <p:nvPicPr>
          <p:cNvPr id="30" name="doodlebot-curious.png" descr="/home/claude/lesson/img/doodlebot-curious.png"/>
          <p:cNvPicPr>
            <a:picLocks noChangeAspect="1"/>
          </p:cNvPicPr>
          <p:nvPr/>
        </p:nvPicPr>
        <p:blipFill>
          <a:blip r:embed="rId3"/>
          <a:stretch>
            <a:fillRect/>
          </a:stretch>
        </p:blipFill>
        <p:spPr>
          <a:xfrm>
            <a:off x="941832" y="3355848"/>
            <a:ext cx="547835" cy="694944"/>
          </a:xfrm>
          <a:prstGeom prst="rect">
            <a:avLst/>
          </a:prstGeom>
        </p:spPr>
      </p:pic>
      <p:sp>
        <p:nvSpPr>
          <p:cNvPr id="31" name="question card"/>
          <p:cNvSpPr/>
          <p:nvPr/>
        </p:nvSpPr>
        <p:spPr>
          <a:xfrm>
            <a:off x="6126480" y="1417320"/>
            <a:ext cx="5532120" cy="2743200"/>
          </a:xfrm>
          <a:prstGeom prst="roundRect">
            <a:avLst>
              <a:gd name="adj" fmla="val 6667"/>
            </a:avLst>
          </a:prstGeom>
          <a:solidFill>
            <a:schemeClr val="accent1">
              <a:alpha val="18000"/>
            </a:schemeClr>
          </a:solidFill>
          <a:ln/>
        </p:spPr>
        <p:txBody>
          <a:bodyPr/>
          <a:lstStyle/>
          <a:p>
            <a:endParaRPr lang="en-SA"/>
          </a:p>
        </p:txBody>
      </p:sp>
      <p:sp>
        <p:nvSpPr>
          <p:cNvPr id="32" name="turn question"/>
          <p:cNvSpPr txBox="1"/>
          <p:nvPr/>
        </p:nvSpPr>
        <p:spPr>
          <a:xfrm>
            <a:off x="6446520" y="1691640"/>
            <a:ext cx="4937760" cy="1463040"/>
          </a:xfrm>
          <a:prstGeom prst="rect">
            <a:avLst/>
          </a:prstGeom>
          <a:noFill/>
          <a:ln/>
        </p:spPr>
        <p:txBody>
          <a:bodyPr wrap="square" lIns="0" tIns="0" rIns="0" bIns="0" rtlCol="0" anchor="t"/>
          <a:lstStyle/>
          <a:p>
            <a:pPr marL="0" indent="0">
              <a:buNone/>
            </a:pPr>
            <a:r>
              <a:rPr lang="en-US" sz="2800" b="1" dirty="0">
                <a:solidFill>
                  <a:schemeClr val="tx1"/>
                </a:solidFill>
                <a:latin typeface="Century Schoolbook" pitchFamily="34" charset="0"/>
                <a:ea typeface="Century Schoolbook" pitchFamily="34" charset="-122"/>
                <a:cs typeface="Century Schoolbook" pitchFamily="34" charset="-120"/>
              </a:rPr>
              <a:t>Doodlebot only sees the squares next to it. Where should it go?</a:t>
            </a:r>
            <a:endParaRPr lang="en-US" sz="2800" dirty="0"/>
          </a:p>
        </p:txBody>
      </p:sp>
      <p:sp>
        <p:nvSpPr>
          <p:cNvPr id="33" name="turn prompt"/>
          <p:cNvSpPr txBox="1"/>
          <p:nvPr/>
        </p:nvSpPr>
        <p:spPr>
          <a:xfrm>
            <a:off x="6446520" y="3291840"/>
            <a:ext cx="4937760" cy="548640"/>
          </a:xfrm>
          <a:prstGeom prst="rect">
            <a:avLst/>
          </a:prstGeom>
          <a:noFill/>
          <a:ln/>
        </p:spPr>
        <p:txBody>
          <a:bodyPr wrap="square" lIns="0" tIns="0" rIns="0" bIns="0" rtlCol="0" anchor="t"/>
          <a:lstStyle/>
          <a:p>
            <a:pPr marL="0" indent="0">
              <a:buNone/>
            </a:pPr>
            <a:r>
              <a:rPr lang="en-US" sz="2000" dirty="0">
                <a:solidFill>
                  <a:schemeClr val="tx2"/>
                </a:solidFill>
              </a:rPr>
              <a:t>Vote: up, down, left or right?</a:t>
            </a:r>
            <a:endParaRPr lang="en-US" sz="2000" dirty="0"/>
          </a:p>
        </p:txBody>
      </p:sp>
      <p:sp>
        <p:nvSpPr>
          <p:cNvPr id="34" name="legend black"/>
          <p:cNvSpPr txBox="1"/>
          <p:nvPr/>
        </p:nvSpPr>
        <p:spPr>
          <a:xfrm>
            <a:off x="6126480" y="4434840"/>
            <a:ext cx="5486400" cy="411480"/>
          </a:xfrm>
          <a:prstGeom prst="rect">
            <a:avLst/>
          </a:prstGeom>
          <a:noFill/>
          <a:ln/>
        </p:spPr>
        <p:txBody>
          <a:bodyPr wrap="square" lIns="0" tIns="0" rIns="0" bIns="0" rtlCol="0" anchor="t"/>
          <a:lstStyle/>
          <a:p>
            <a:pPr marL="0" indent="0">
              <a:buNone/>
            </a:pPr>
            <a:r>
              <a:rPr lang="en-US" sz="1800" dirty="0">
                <a:solidFill>
                  <a:srgbClr val="101329"/>
                </a:solidFill>
              </a:rPr>
              <a:t>Black = Doodlebot hasn't sensed it yet</a:t>
            </a:r>
          </a:p>
        </p:txBody>
      </p:sp>
      <p:sp>
        <p:nvSpPr>
          <p:cNvPr id="35" name="legend wall"/>
          <p:cNvSpPr txBox="1"/>
          <p:nvPr/>
        </p:nvSpPr>
        <p:spPr>
          <a:xfrm>
            <a:off x="6126480" y="4892040"/>
            <a:ext cx="5486400" cy="411480"/>
          </a:xfrm>
          <a:prstGeom prst="rect">
            <a:avLst/>
          </a:prstGeom>
          <a:noFill/>
          <a:ln/>
        </p:spPr>
        <p:txBody>
          <a:bodyPr wrap="square" lIns="0" tIns="0" rIns="0" bIns="0" rtlCol="0" anchor="t"/>
          <a:lstStyle/>
          <a:p>
            <a:pPr marL="0" indent="0">
              <a:buNone/>
            </a:pPr>
            <a:r>
              <a:rPr lang="en-US" sz="1800" dirty="0">
                <a:solidFill>
                  <a:srgbClr val="56648C"/>
                </a:solidFill>
              </a:rPr>
              <a:t>Dark blue = wall it has sensed</a:t>
            </a:r>
          </a:p>
        </p:txBody>
      </p:sp>
      <p:sp>
        <p:nvSpPr>
          <p:cNvPr id="36"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Mystery Map · turn 2</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3">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Warm-up · 6 min</a:t>
            </a:r>
            <a:endParaRPr lang="en-US" sz="1300" dirty="0"/>
          </a:p>
        </p:txBody>
      </p:sp>
      <p:sp>
        <p:nvSpPr>
          <p:cNvPr id="5" name="cell 0,0"/>
          <p:cNvSpPr/>
          <p:nvPr/>
        </p:nvSpPr>
        <p:spPr>
          <a:xfrm>
            <a:off x="859536" y="1453896"/>
            <a:ext cx="841248" cy="841248"/>
          </a:xfrm>
          <a:prstGeom prst="roundRect">
            <a:avLst>
              <a:gd name="adj" fmla="val 10870"/>
            </a:avLst>
          </a:prstGeom>
          <a:solidFill>
            <a:srgbClr val="10132A"/>
          </a:solidFill>
          <a:ln/>
        </p:spPr>
        <p:txBody>
          <a:bodyPr/>
          <a:lstStyle/>
          <a:p>
            <a:endParaRPr lang="en-SA"/>
          </a:p>
        </p:txBody>
      </p:sp>
      <p:sp>
        <p:nvSpPr>
          <p:cNvPr id="6" name="cell 1,0"/>
          <p:cNvSpPr/>
          <p:nvPr/>
        </p:nvSpPr>
        <p:spPr>
          <a:xfrm>
            <a:off x="1773936" y="1453896"/>
            <a:ext cx="841248" cy="841248"/>
          </a:xfrm>
          <a:prstGeom prst="roundRect">
            <a:avLst>
              <a:gd name="adj" fmla="val 10870"/>
            </a:avLst>
          </a:prstGeom>
          <a:solidFill>
            <a:srgbClr val="10132A"/>
          </a:solidFill>
          <a:ln/>
        </p:spPr>
        <p:txBody>
          <a:bodyPr/>
          <a:lstStyle/>
          <a:p>
            <a:endParaRPr lang="en-SA"/>
          </a:p>
        </p:txBody>
      </p:sp>
      <p:sp>
        <p:nvSpPr>
          <p:cNvPr id="7" name="cell 2,0"/>
          <p:cNvSpPr/>
          <p:nvPr/>
        </p:nvSpPr>
        <p:spPr>
          <a:xfrm>
            <a:off x="2688336" y="1453896"/>
            <a:ext cx="841248" cy="841248"/>
          </a:xfrm>
          <a:prstGeom prst="roundRect">
            <a:avLst>
              <a:gd name="adj" fmla="val 10870"/>
            </a:avLst>
          </a:prstGeom>
          <a:solidFill>
            <a:srgbClr val="10132A"/>
          </a:solidFill>
          <a:ln/>
        </p:spPr>
        <p:txBody>
          <a:bodyPr/>
          <a:lstStyle/>
          <a:p>
            <a:endParaRPr lang="en-SA"/>
          </a:p>
        </p:txBody>
      </p:sp>
      <p:sp>
        <p:nvSpPr>
          <p:cNvPr id="8" name="cell 3,0"/>
          <p:cNvSpPr/>
          <p:nvPr/>
        </p:nvSpPr>
        <p:spPr>
          <a:xfrm>
            <a:off x="3602736" y="1453896"/>
            <a:ext cx="841248" cy="841248"/>
          </a:xfrm>
          <a:prstGeom prst="roundRect">
            <a:avLst>
              <a:gd name="adj" fmla="val 10870"/>
            </a:avLst>
          </a:prstGeom>
          <a:solidFill>
            <a:srgbClr val="10132A"/>
          </a:solidFill>
          <a:ln/>
        </p:spPr>
        <p:txBody>
          <a:bodyPr/>
          <a:lstStyle/>
          <a:p>
            <a:endParaRPr lang="en-SA"/>
          </a:p>
        </p:txBody>
      </p:sp>
      <p:sp>
        <p:nvSpPr>
          <p:cNvPr id="9" name="cell 4,0"/>
          <p:cNvSpPr/>
          <p:nvPr/>
        </p:nvSpPr>
        <p:spPr>
          <a:xfrm>
            <a:off x="4517136" y="1453896"/>
            <a:ext cx="841248" cy="841248"/>
          </a:xfrm>
          <a:prstGeom prst="roundRect">
            <a:avLst>
              <a:gd name="adj" fmla="val 10870"/>
            </a:avLst>
          </a:prstGeom>
          <a:solidFill>
            <a:srgbClr val="10132A"/>
          </a:solidFill>
          <a:ln/>
        </p:spPr>
        <p:txBody>
          <a:bodyPr/>
          <a:lstStyle/>
          <a:p>
            <a:endParaRPr lang="en-SA"/>
          </a:p>
        </p:txBody>
      </p:sp>
      <p:sp>
        <p:nvSpPr>
          <p:cNvPr id="10" name="cell 0,1"/>
          <p:cNvSpPr/>
          <p:nvPr/>
        </p:nvSpPr>
        <p:spPr>
          <a:xfrm>
            <a:off x="859536" y="2368296"/>
            <a:ext cx="841248" cy="841248"/>
          </a:xfrm>
          <a:prstGeom prst="roundRect">
            <a:avLst>
              <a:gd name="adj" fmla="val 10870"/>
            </a:avLst>
          </a:prstGeom>
          <a:solidFill>
            <a:srgbClr val="EEF9F3"/>
          </a:solidFill>
          <a:ln/>
        </p:spPr>
        <p:txBody>
          <a:bodyPr/>
          <a:lstStyle/>
          <a:p>
            <a:endParaRPr lang="en-SA"/>
          </a:p>
        </p:txBody>
      </p:sp>
      <p:sp>
        <p:nvSpPr>
          <p:cNvPr id="11" name="cell 1,1"/>
          <p:cNvSpPr/>
          <p:nvPr/>
        </p:nvSpPr>
        <p:spPr>
          <a:xfrm>
            <a:off x="1773936" y="2368296"/>
            <a:ext cx="841248" cy="841248"/>
          </a:xfrm>
          <a:prstGeom prst="roundRect">
            <a:avLst>
              <a:gd name="adj" fmla="val 10870"/>
            </a:avLst>
          </a:prstGeom>
          <a:solidFill>
            <a:srgbClr val="56648C"/>
          </a:solidFill>
          <a:ln/>
        </p:spPr>
        <p:txBody>
          <a:bodyPr/>
          <a:lstStyle/>
          <a:p>
            <a:endParaRPr lang="en-SA"/>
          </a:p>
        </p:txBody>
      </p:sp>
      <p:sp>
        <p:nvSpPr>
          <p:cNvPr id="12" name="cell 2,1"/>
          <p:cNvSpPr/>
          <p:nvPr/>
        </p:nvSpPr>
        <p:spPr>
          <a:xfrm>
            <a:off x="2688336" y="2368296"/>
            <a:ext cx="841248" cy="841248"/>
          </a:xfrm>
          <a:prstGeom prst="roundRect">
            <a:avLst>
              <a:gd name="adj" fmla="val 10870"/>
            </a:avLst>
          </a:prstGeom>
          <a:solidFill>
            <a:srgbClr val="EEF9F3"/>
          </a:solidFill>
          <a:ln/>
        </p:spPr>
        <p:txBody>
          <a:bodyPr/>
          <a:lstStyle/>
          <a:p>
            <a:endParaRPr lang="en-SA"/>
          </a:p>
        </p:txBody>
      </p:sp>
      <p:sp>
        <p:nvSpPr>
          <p:cNvPr id="13" name="cell 3,1"/>
          <p:cNvSpPr/>
          <p:nvPr/>
        </p:nvSpPr>
        <p:spPr>
          <a:xfrm>
            <a:off x="3602736" y="2368296"/>
            <a:ext cx="841248" cy="841248"/>
          </a:xfrm>
          <a:prstGeom prst="roundRect">
            <a:avLst>
              <a:gd name="adj" fmla="val 10870"/>
            </a:avLst>
          </a:prstGeom>
          <a:solidFill>
            <a:srgbClr val="10132A"/>
          </a:solidFill>
          <a:ln/>
        </p:spPr>
        <p:txBody>
          <a:bodyPr/>
          <a:lstStyle/>
          <a:p>
            <a:endParaRPr lang="en-SA"/>
          </a:p>
        </p:txBody>
      </p:sp>
      <p:sp>
        <p:nvSpPr>
          <p:cNvPr id="14" name="cell 4,1"/>
          <p:cNvSpPr/>
          <p:nvPr/>
        </p:nvSpPr>
        <p:spPr>
          <a:xfrm>
            <a:off x="4517136" y="2368296"/>
            <a:ext cx="841248" cy="841248"/>
          </a:xfrm>
          <a:prstGeom prst="roundRect">
            <a:avLst>
              <a:gd name="adj" fmla="val 10870"/>
            </a:avLst>
          </a:prstGeom>
          <a:solidFill>
            <a:srgbClr val="10132A"/>
          </a:solidFill>
          <a:ln/>
        </p:spPr>
        <p:txBody>
          <a:bodyPr/>
          <a:lstStyle/>
          <a:p>
            <a:endParaRPr lang="en-SA"/>
          </a:p>
        </p:txBody>
      </p:sp>
      <p:sp>
        <p:nvSpPr>
          <p:cNvPr id="15" name="cell 0,2"/>
          <p:cNvSpPr/>
          <p:nvPr/>
        </p:nvSpPr>
        <p:spPr>
          <a:xfrm>
            <a:off x="859536" y="3282696"/>
            <a:ext cx="841248" cy="841248"/>
          </a:xfrm>
          <a:prstGeom prst="roundRect">
            <a:avLst>
              <a:gd name="adj" fmla="val 10870"/>
            </a:avLst>
          </a:prstGeom>
          <a:solidFill>
            <a:srgbClr val="EEF9F3"/>
          </a:solidFill>
          <a:ln/>
        </p:spPr>
        <p:txBody>
          <a:bodyPr/>
          <a:lstStyle/>
          <a:p>
            <a:endParaRPr lang="en-SA"/>
          </a:p>
        </p:txBody>
      </p:sp>
      <p:sp>
        <p:nvSpPr>
          <p:cNvPr id="16" name="cell 1,2"/>
          <p:cNvSpPr/>
          <p:nvPr/>
        </p:nvSpPr>
        <p:spPr>
          <a:xfrm>
            <a:off x="1773936" y="3282696"/>
            <a:ext cx="841248" cy="841248"/>
          </a:xfrm>
          <a:prstGeom prst="roundRect">
            <a:avLst>
              <a:gd name="adj" fmla="val 10870"/>
            </a:avLst>
          </a:prstGeom>
          <a:solidFill>
            <a:srgbClr val="EEF9F3"/>
          </a:solidFill>
          <a:ln/>
        </p:spPr>
        <p:txBody>
          <a:bodyPr/>
          <a:lstStyle/>
          <a:p>
            <a:endParaRPr lang="en-SA"/>
          </a:p>
        </p:txBody>
      </p:sp>
      <p:sp>
        <p:nvSpPr>
          <p:cNvPr id="17" name="cell 2,2"/>
          <p:cNvSpPr/>
          <p:nvPr/>
        </p:nvSpPr>
        <p:spPr>
          <a:xfrm>
            <a:off x="2688336" y="3282696"/>
            <a:ext cx="841248" cy="841248"/>
          </a:xfrm>
          <a:prstGeom prst="roundRect">
            <a:avLst>
              <a:gd name="adj" fmla="val 10870"/>
            </a:avLst>
          </a:prstGeom>
          <a:solidFill>
            <a:srgbClr val="EEF9F3"/>
          </a:solidFill>
          <a:ln/>
        </p:spPr>
        <p:txBody>
          <a:bodyPr/>
          <a:lstStyle/>
          <a:p>
            <a:endParaRPr lang="en-SA"/>
          </a:p>
        </p:txBody>
      </p:sp>
      <p:sp>
        <p:nvSpPr>
          <p:cNvPr id="18" name="cell 3,2"/>
          <p:cNvSpPr/>
          <p:nvPr/>
        </p:nvSpPr>
        <p:spPr>
          <a:xfrm>
            <a:off x="3602736" y="3282696"/>
            <a:ext cx="841248" cy="841248"/>
          </a:xfrm>
          <a:prstGeom prst="roundRect">
            <a:avLst>
              <a:gd name="adj" fmla="val 10870"/>
            </a:avLst>
          </a:prstGeom>
          <a:solidFill>
            <a:srgbClr val="10132A"/>
          </a:solidFill>
          <a:ln/>
        </p:spPr>
        <p:txBody>
          <a:bodyPr/>
          <a:lstStyle/>
          <a:p>
            <a:endParaRPr lang="en-SA"/>
          </a:p>
        </p:txBody>
      </p:sp>
      <p:sp>
        <p:nvSpPr>
          <p:cNvPr id="19" name="cell 4,2"/>
          <p:cNvSpPr/>
          <p:nvPr/>
        </p:nvSpPr>
        <p:spPr>
          <a:xfrm>
            <a:off x="4517136" y="3282696"/>
            <a:ext cx="841248" cy="841248"/>
          </a:xfrm>
          <a:prstGeom prst="roundRect">
            <a:avLst>
              <a:gd name="adj" fmla="val 10870"/>
            </a:avLst>
          </a:prstGeom>
          <a:solidFill>
            <a:srgbClr val="10132A"/>
          </a:solidFill>
          <a:ln/>
        </p:spPr>
        <p:txBody>
          <a:bodyPr/>
          <a:lstStyle/>
          <a:p>
            <a:endParaRPr lang="en-SA"/>
          </a:p>
        </p:txBody>
      </p:sp>
      <p:sp>
        <p:nvSpPr>
          <p:cNvPr id="20" name="cell 0,3"/>
          <p:cNvSpPr/>
          <p:nvPr/>
        </p:nvSpPr>
        <p:spPr>
          <a:xfrm>
            <a:off x="859536" y="4197096"/>
            <a:ext cx="841248" cy="841248"/>
          </a:xfrm>
          <a:prstGeom prst="roundRect">
            <a:avLst>
              <a:gd name="adj" fmla="val 10870"/>
            </a:avLst>
          </a:prstGeom>
          <a:solidFill>
            <a:srgbClr val="EEF9F3"/>
          </a:solidFill>
          <a:ln/>
        </p:spPr>
        <p:txBody>
          <a:bodyPr/>
          <a:lstStyle/>
          <a:p>
            <a:endParaRPr lang="en-SA"/>
          </a:p>
        </p:txBody>
      </p:sp>
      <p:sp>
        <p:nvSpPr>
          <p:cNvPr id="21" name="cell 1,3"/>
          <p:cNvSpPr/>
          <p:nvPr/>
        </p:nvSpPr>
        <p:spPr>
          <a:xfrm>
            <a:off x="1773936" y="4197096"/>
            <a:ext cx="841248" cy="841248"/>
          </a:xfrm>
          <a:prstGeom prst="roundRect">
            <a:avLst>
              <a:gd name="adj" fmla="val 10870"/>
            </a:avLst>
          </a:prstGeom>
          <a:solidFill>
            <a:srgbClr val="EEF9F3"/>
          </a:solidFill>
          <a:ln/>
        </p:spPr>
        <p:txBody>
          <a:bodyPr/>
          <a:lstStyle/>
          <a:p>
            <a:endParaRPr lang="en-SA"/>
          </a:p>
        </p:txBody>
      </p:sp>
      <p:sp>
        <p:nvSpPr>
          <p:cNvPr id="22" name="cell 2,3"/>
          <p:cNvSpPr/>
          <p:nvPr/>
        </p:nvSpPr>
        <p:spPr>
          <a:xfrm>
            <a:off x="2688336" y="4197096"/>
            <a:ext cx="841248" cy="841248"/>
          </a:xfrm>
          <a:prstGeom prst="roundRect">
            <a:avLst>
              <a:gd name="adj" fmla="val 10870"/>
            </a:avLst>
          </a:prstGeom>
          <a:solidFill>
            <a:srgbClr val="56648C"/>
          </a:solidFill>
          <a:ln/>
        </p:spPr>
        <p:txBody>
          <a:bodyPr/>
          <a:lstStyle/>
          <a:p>
            <a:endParaRPr lang="en-SA"/>
          </a:p>
        </p:txBody>
      </p:sp>
      <p:sp>
        <p:nvSpPr>
          <p:cNvPr id="23" name="cell 3,3"/>
          <p:cNvSpPr/>
          <p:nvPr/>
        </p:nvSpPr>
        <p:spPr>
          <a:xfrm>
            <a:off x="3602736" y="4197096"/>
            <a:ext cx="841248" cy="841248"/>
          </a:xfrm>
          <a:prstGeom prst="roundRect">
            <a:avLst>
              <a:gd name="adj" fmla="val 10870"/>
            </a:avLst>
          </a:prstGeom>
          <a:solidFill>
            <a:srgbClr val="10132A"/>
          </a:solidFill>
          <a:ln/>
        </p:spPr>
        <p:txBody>
          <a:bodyPr/>
          <a:lstStyle/>
          <a:p>
            <a:endParaRPr lang="en-SA"/>
          </a:p>
        </p:txBody>
      </p:sp>
      <p:sp>
        <p:nvSpPr>
          <p:cNvPr id="24" name="cell 4,3"/>
          <p:cNvSpPr/>
          <p:nvPr/>
        </p:nvSpPr>
        <p:spPr>
          <a:xfrm>
            <a:off x="4517136" y="4197096"/>
            <a:ext cx="841248" cy="841248"/>
          </a:xfrm>
          <a:prstGeom prst="roundRect">
            <a:avLst>
              <a:gd name="adj" fmla="val 10870"/>
            </a:avLst>
          </a:prstGeom>
          <a:solidFill>
            <a:srgbClr val="10132A"/>
          </a:solidFill>
          <a:ln/>
        </p:spPr>
        <p:txBody>
          <a:bodyPr/>
          <a:lstStyle/>
          <a:p>
            <a:endParaRPr lang="en-SA"/>
          </a:p>
        </p:txBody>
      </p:sp>
      <p:sp>
        <p:nvSpPr>
          <p:cNvPr id="25" name="cell 0,4"/>
          <p:cNvSpPr/>
          <p:nvPr/>
        </p:nvSpPr>
        <p:spPr>
          <a:xfrm>
            <a:off x="859536" y="5111496"/>
            <a:ext cx="841248" cy="841248"/>
          </a:xfrm>
          <a:prstGeom prst="roundRect">
            <a:avLst>
              <a:gd name="adj" fmla="val 10870"/>
            </a:avLst>
          </a:prstGeom>
          <a:solidFill>
            <a:srgbClr val="10132A"/>
          </a:solidFill>
          <a:ln/>
        </p:spPr>
        <p:txBody>
          <a:bodyPr/>
          <a:lstStyle/>
          <a:p>
            <a:endParaRPr lang="en-SA"/>
          </a:p>
        </p:txBody>
      </p:sp>
      <p:sp>
        <p:nvSpPr>
          <p:cNvPr id="26" name="cell 1,4"/>
          <p:cNvSpPr/>
          <p:nvPr/>
        </p:nvSpPr>
        <p:spPr>
          <a:xfrm>
            <a:off x="1773936" y="5111496"/>
            <a:ext cx="841248" cy="841248"/>
          </a:xfrm>
          <a:prstGeom prst="roundRect">
            <a:avLst>
              <a:gd name="adj" fmla="val 10870"/>
            </a:avLst>
          </a:prstGeom>
          <a:solidFill>
            <a:srgbClr val="10132A"/>
          </a:solidFill>
          <a:ln/>
        </p:spPr>
        <p:txBody>
          <a:bodyPr/>
          <a:lstStyle/>
          <a:p>
            <a:endParaRPr lang="en-SA"/>
          </a:p>
        </p:txBody>
      </p:sp>
      <p:sp>
        <p:nvSpPr>
          <p:cNvPr id="27" name="cell 2,4"/>
          <p:cNvSpPr/>
          <p:nvPr/>
        </p:nvSpPr>
        <p:spPr>
          <a:xfrm>
            <a:off x="2688336" y="5111496"/>
            <a:ext cx="841248" cy="841248"/>
          </a:xfrm>
          <a:prstGeom prst="roundRect">
            <a:avLst>
              <a:gd name="adj" fmla="val 10870"/>
            </a:avLst>
          </a:prstGeom>
          <a:solidFill>
            <a:srgbClr val="10132A"/>
          </a:solidFill>
          <a:ln/>
        </p:spPr>
        <p:txBody>
          <a:bodyPr/>
          <a:lstStyle/>
          <a:p>
            <a:endParaRPr lang="en-SA"/>
          </a:p>
        </p:txBody>
      </p:sp>
      <p:sp>
        <p:nvSpPr>
          <p:cNvPr id="28" name="cell 3,4"/>
          <p:cNvSpPr/>
          <p:nvPr/>
        </p:nvSpPr>
        <p:spPr>
          <a:xfrm>
            <a:off x="3602736" y="5111496"/>
            <a:ext cx="841248" cy="841248"/>
          </a:xfrm>
          <a:prstGeom prst="roundRect">
            <a:avLst>
              <a:gd name="adj" fmla="val 10870"/>
            </a:avLst>
          </a:prstGeom>
          <a:solidFill>
            <a:srgbClr val="10132A"/>
          </a:solidFill>
          <a:ln/>
        </p:spPr>
        <p:txBody>
          <a:bodyPr/>
          <a:lstStyle/>
          <a:p>
            <a:endParaRPr lang="en-SA"/>
          </a:p>
        </p:txBody>
      </p:sp>
      <p:sp>
        <p:nvSpPr>
          <p:cNvPr id="29" name="cell 4,4"/>
          <p:cNvSpPr/>
          <p:nvPr/>
        </p:nvSpPr>
        <p:spPr>
          <a:xfrm>
            <a:off x="4517136" y="5111496"/>
            <a:ext cx="841248" cy="841248"/>
          </a:xfrm>
          <a:prstGeom prst="roundRect">
            <a:avLst>
              <a:gd name="adj" fmla="val 10870"/>
            </a:avLst>
          </a:prstGeom>
          <a:solidFill>
            <a:srgbClr val="10132A"/>
          </a:solidFill>
          <a:ln/>
        </p:spPr>
        <p:txBody>
          <a:bodyPr/>
          <a:lstStyle/>
          <a:p>
            <a:endParaRPr lang="en-SA"/>
          </a:p>
        </p:txBody>
      </p:sp>
      <p:pic>
        <p:nvPicPr>
          <p:cNvPr id="30" name="doodlebot-curious.png" descr="/home/claude/lesson/img/doodlebot-curious.png"/>
          <p:cNvPicPr>
            <a:picLocks noChangeAspect="1"/>
          </p:cNvPicPr>
          <p:nvPr/>
        </p:nvPicPr>
        <p:blipFill>
          <a:blip r:embed="rId3"/>
          <a:stretch>
            <a:fillRect/>
          </a:stretch>
        </p:blipFill>
        <p:spPr>
          <a:xfrm>
            <a:off x="1856232" y="3355848"/>
            <a:ext cx="547835" cy="694944"/>
          </a:xfrm>
          <a:prstGeom prst="rect">
            <a:avLst/>
          </a:prstGeom>
        </p:spPr>
      </p:pic>
      <p:sp>
        <p:nvSpPr>
          <p:cNvPr id="31" name="question card"/>
          <p:cNvSpPr/>
          <p:nvPr/>
        </p:nvSpPr>
        <p:spPr>
          <a:xfrm>
            <a:off x="6126480" y="1417320"/>
            <a:ext cx="5532120" cy="2743200"/>
          </a:xfrm>
          <a:prstGeom prst="roundRect">
            <a:avLst>
              <a:gd name="adj" fmla="val 6667"/>
            </a:avLst>
          </a:prstGeom>
          <a:solidFill>
            <a:schemeClr val="accent1">
              <a:alpha val="18000"/>
            </a:schemeClr>
          </a:solidFill>
          <a:ln/>
        </p:spPr>
        <p:txBody>
          <a:bodyPr/>
          <a:lstStyle/>
          <a:p>
            <a:endParaRPr lang="en-SA"/>
          </a:p>
        </p:txBody>
      </p:sp>
      <p:sp>
        <p:nvSpPr>
          <p:cNvPr id="32" name="turn question"/>
          <p:cNvSpPr txBox="1"/>
          <p:nvPr/>
        </p:nvSpPr>
        <p:spPr>
          <a:xfrm>
            <a:off x="6446520" y="1691640"/>
            <a:ext cx="4937760" cy="1463040"/>
          </a:xfrm>
          <a:prstGeom prst="rect">
            <a:avLst/>
          </a:prstGeom>
          <a:noFill/>
          <a:ln/>
        </p:spPr>
        <p:txBody>
          <a:bodyPr wrap="square" lIns="0" tIns="0" rIns="0" bIns="0" rtlCol="0" anchor="t"/>
          <a:lstStyle/>
          <a:p>
            <a:pPr marL="0" indent="0">
              <a:buNone/>
            </a:pPr>
            <a:r>
              <a:rPr lang="en-US" sz="2800" b="1" dirty="0">
                <a:solidFill>
                  <a:schemeClr val="tx1"/>
                </a:solidFill>
                <a:latin typeface="Century Schoolbook" pitchFamily="34" charset="0"/>
                <a:ea typeface="Century Schoolbook" pitchFamily="34" charset="-122"/>
                <a:cs typeface="Century Schoolbook" pitchFamily="34" charset="-120"/>
              </a:rPr>
              <a:t>A wall! New squares appeared. Which way now?</a:t>
            </a:r>
            <a:endParaRPr lang="en-US" sz="2800" dirty="0"/>
          </a:p>
        </p:txBody>
      </p:sp>
      <p:sp>
        <p:nvSpPr>
          <p:cNvPr id="33" name="turn prompt"/>
          <p:cNvSpPr txBox="1"/>
          <p:nvPr/>
        </p:nvSpPr>
        <p:spPr>
          <a:xfrm>
            <a:off x="6446520" y="3291840"/>
            <a:ext cx="4937760" cy="548640"/>
          </a:xfrm>
          <a:prstGeom prst="rect">
            <a:avLst/>
          </a:prstGeom>
          <a:noFill/>
          <a:ln/>
        </p:spPr>
        <p:txBody>
          <a:bodyPr wrap="square" lIns="0" tIns="0" rIns="0" bIns="0" rtlCol="0" anchor="t"/>
          <a:lstStyle/>
          <a:p>
            <a:pPr marL="0" indent="0">
              <a:buNone/>
            </a:pPr>
            <a:r>
              <a:rPr lang="en-US" sz="2000" dirty="0">
                <a:solidFill>
                  <a:schemeClr val="tx2"/>
                </a:solidFill>
              </a:rPr>
              <a:t>Vote: up, down, left or right?</a:t>
            </a:r>
            <a:endParaRPr lang="en-US" sz="2000" dirty="0"/>
          </a:p>
        </p:txBody>
      </p:sp>
      <p:sp>
        <p:nvSpPr>
          <p:cNvPr id="34" name="legend black"/>
          <p:cNvSpPr txBox="1"/>
          <p:nvPr/>
        </p:nvSpPr>
        <p:spPr>
          <a:xfrm>
            <a:off x="6126480" y="4434840"/>
            <a:ext cx="5486400" cy="411480"/>
          </a:xfrm>
          <a:prstGeom prst="rect">
            <a:avLst/>
          </a:prstGeom>
          <a:noFill/>
          <a:ln/>
        </p:spPr>
        <p:txBody>
          <a:bodyPr wrap="square" lIns="0" tIns="0" rIns="0" bIns="0" rtlCol="0" anchor="t"/>
          <a:lstStyle/>
          <a:p>
            <a:pPr marL="0" indent="0">
              <a:buNone/>
            </a:pPr>
            <a:r>
              <a:rPr lang="en-US" sz="1800" dirty="0">
                <a:solidFill>
                  <a:srgbClr val="101329"/>
                </a:solidFill>
              </a:rPr>
              <a:t>Black = Doodlebot hasn't sensed it yet</a:t>
            </a:r>
          </a:p>
        </p:txBody>
      </p:sp>
      <p:sp>
        <p:nvSpPr>
          <p:cNvPr id="35" name="legend wall"/>
          <p:cNvSpPr txBox="1"/>
          <p:nvPr/>
        </p:nvSpPr>
        <p:spPr>
          <a:xfrm>
            <a:off x="6126480" y="4892040"/>
            <a:ext cx="5486400" cy="411480"/>
          </a:xfrm>
          <a:prstGeom prst="rect">
            <a:avLst/>
          </a:prstGeom>
          <a:noFill/>
          <a:ln/>
        </p:spPr>
        <p:txBody>
          <a:bodyPr wrap="square" lIns="0" tIns="0" rIns="0" bIns="0" rtlCol="0" anchor="t"/>
          <a:lstStyle/>
          <a:p>
            <a:pPr marL="0" indent="0">
              <a:buNone/>
            </a:pPr>
            <a:r>
              <a:rPr lang="en-US" sz="1800" dirty="0">
                <a:solidFill>
                  <a:srgbClr val="56648C"/>
                </a:solidFill>
              </a:rPr>
              <a:t>Dark blue = wall it has sensed</a:t>
            </a:r>
          </a:p>
        </p:txBody>
      </p:sp>
      <p:sp>
        <p:nvSpPr>
          <p:cNvPr id="36"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Mystery Map · turn 3</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3">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Warm-up · 6 min</a:t>
            </a:r>
            <a:endParaRPr lang="en-US" sz="1300" dirty="0"/>
          </a:p>
        </p:txBody>
      </p:sp>
      <p:sp>
        <p:nvSpPr>
          <p:cNvPr id="5" name="cell 0,0"/>
          <p:cNvSpPr/>
          <p:nvPr/>
        </p:nvSpPr>
        <p:spPr>
          <a:xfrm>
            <a:off x="859536" y="1453896"/>
            <a:ext cx="841248" cy="841248"/>
          </a:xfrm>
          <a:prstGeom prst="roundRect">
            <a:avLst>
              <a:gd name="adj" fmla="val 10870"/>
            </a:avLst>
          </a:prstGeom>
          <a:solidFill>
            <a:srgbClr val="10132A"/>
          </a:solidFill>
          <a:ln/>
        </p:spPr>
        <p:txBody>
          <a:bodyPr/>
          <a:lstStyle/>
          <a:p>
            <a:endParaRPr lang="en-SA"/>
          </a:p>
        </p:txBody>
      </p:sp>
      <p:sp>
        <p:nvSpPr>
          <p:cNvPr id="6" name="cell 1,0"/>
          <p:cNvSpPr/>
          <p:nvPr/>
        </p:nvSpPr>
        <p:spPr>
          <a:xfrm>
            <a:off x="1773936" y="1453896"/>
            <a:ext cx="841248" cy="841248"/>
          </a:xfrm>
          <a:prstGeom prst="roundRect">
            <a:avLst>
              <a:gd name="adj" fmla="val 10870"/>
            </a:avLst>
          </a:prstGeom>
          <a:solidFill>
            <a:srgbClr val="10132A"/>
          </a:solidFill>
          <a:ln/>
        </p:spPr>
        <p:txBody>
          <a:bodyPr/>
          <a:lstStyle/>
          <a:p>
            <a:endParaRPr lang="en-SA"/>
          </a:p>
        </p:txBody>
      </p:sp>
      <p:sp>
        <p:nvSpPr>
          <p:cNvPr id="7" name="cell 2,0"/>
          <p:cNvSpPr/>
          <p:nvPr/>
        </p:nvSpPr>
        <p:spPr>
          <a:xfrm>
            <a:off x="2688336" y="1453896"/>
            <a:ext cx="841248" cy="841248"/>
          </a:xfrm>
          <a:prstGeom prst="roundRect">
            <a:avLst>
              <a:gd name="adj" fmla="val 10870"/>
            </a:avLst>
          </a:prstGeom>
          <a:solidFill>
            <a:srgbClr val="10132A"/>
          </a:solidFill>
          <a:ln/>
        </p:spPr>
        <p:txBody>
          <a:bodyPr/>
          <a:lstStyle/>
          <a:p>
            <a:endParaRPr lang="en-SA"/>
          </a:p>
        </p:txBody>
      </p:sp>
      <p:sp>
        <p:nvSpPr>
          <p:cNvPr id="8" name="cell 3,0"/>
          <p:cNvSpPr/>
          <p:nvPr/>
        </p:nvSpPr>
        <p:spPr>
          <a:xfrm>
            <a:off x="3602736" y="1453896"/>
            <a:ext cx="841248" cy="841248"/>
          </a:xfrm>
          <a:prstGeom prst="roundRect">
            <a:avLst>
              <a:gd name="adj" fmla="val 10870"/>
            </a:avLst>
          </a:prstGeom>
          <a:solidFill>
            <a:srgbClr val="10132A"/>
          </a:solidFill>
          <a:ln/>
        </p:spPr>
        <p:txBody>
          <a:bodyPr/>
          <a:lstStyle/>
          <a:p>
            <a:endParaRPr lang="en-SA"/>
          </a:p>
        </p:txBody>
      </p:sp>
      <p:sp>
        <p:nvSpPr>
          <p:cNvPr id="9" name="cell 4,0"/>
          <p:cNvSpPr/>
          <p:nvPr/>
        </p:nvSpPr>
        <p:spPr>
          <a:xfrm>
            <a:off x="4517136" y="1453896"/>
            <a:ext cx="841248" cy="841248"/>
          </a:xfrm>
          <a:prstGeom prst="roundRect">
            <a:avLst>
              <a:gd name="adj" fmla="val 10870"/>
            </a:avLst>
          </a:prstGeom>
          <a:solidFill>
            <a:srgbClr val="10132A"/>
          </a:solidFill>
          <a:ln/>
        </p:spPr>
        <p:txBody>
          <a:bodyPr/>
          <a:lstStyle/>
          <a:p>
            <a:endParaRPr lang="en-SA"/>
          </a:p>
        </p:txBody>
      </p:sp>
      <p:sp>
        <p:nvSpPr>
          <p:cNvPr id="10" name="cell 0,1"/>
          <p:cNvSpPr/>
          <p:nvPr/>
        </p:nvSpPr>
        <p:spPr>
          <a:xfrm>
            <a:off x="859536" y="2368296"/>
            <a:ext cx="841248" cy="841248"/>
          </a:xfrm>
          <a:prstGeom prst="roundRect">
            <a:avLst>
              <a:gd name="adj" fmla="val 10870"/>
            </a:avLst>
          </a:prstGeom>
          <a:solidFill>
            <a:srgbClr val="EEF9F3"/>
          </a:solidFill>
          <a:ln/>
        </p:spPr>
        <p:txBody>
          <a:bodyPr/>
          <a:lstStyle/>
          <a:p>
            <a:endParaRPr lang="en-SA"/>
          </a:p>
        </p:txBody>
      </p:sp>
      <p:sp>
        <p:nvSpPr>
          <p:cNvPr id="11" name="cell 1,1"/>
          <p:cNvSpPr/>
          <p:nvPr/>
        </p:nvSpPr>
        <p:spPr>
          <a:xfrm>
            <a:off x="1773936" y="2368296"/>
            <a:ext cx="841248" cy="841248"/>
          </a:xfrm>
          <a:prstGeom prst="roundRect">
            <a:avLst>
              <a:gd name="adj" fmla="val 10870"/>
            </a:avLst>
          </a:prstGeom>
          <a:solidFill>
            <a:srgbClr val="56648C"/>
          </a:solidFill>
          <a:ln/>
        </p:spPr>
        <p:txBody>
          <a:bodyPr/>
          <a:lstStyle/>
          <a:p>
            <a:endParaRPr lang="en-SA"/>
          </a:p>
        </p:txBody>
      </p:sp>
      <p:sp>
        <p:nvSpPr>
          <p:cNvPr id="12" name="cell 2,1"/>
          <p:cNvSpPr/>
          <p:nvPr/>
        </p:nvSpPr>
        <p:spPr>
          <a:xfrm>
            <a:off x="2688336" y="2368296"/>
            <a:ext cx="841248" cy="841248"/>
          </a:xfrm>
          <a:prstGeom prst="roundRect">
            <a:avLst>
              <a:gd name="adj" fmla="val 10870"/>
            </a:avLst>
          </a:prstGeom>
          <a:solidFill>
            <a:srgbClr val="EEF9F3"/>
          </a:solidFill>
          <a:ln/>
        </p:spPr>
        <p:txBody>
          <a:bodyPr/>
          <a:lstStyle/>
          <a:p>
            <a:endParaRPr lang="en-SA"/>
          </a:p>
        </p:txBody>
      </p:sp>
      <p:sp>
        <p:nvSpPr>
          <p:cNvPr id="13" name="cell 3,1"/>
          <p:cNvSpPr/>
          <p:nvPr/>
        </p:nvSpPr>
        <p:spPr>
          <a:xfrm>
            <a:off x="3602736" y="2368296"/>
            <a:ext cx="841248" cy="841248"/>
          </a:xfrm>
          <a:prstGeom prst="roundRect">
            <a:avLst>
              <a:gd name="adj" fmla="val 10870"/>
            </a:avLst>
          </a:prstGeom>
          <a:solidFill>
            <a:srgbClr val="56648C"/>
          </a:solidFill>
          <a:ln/>
        </p:spPr>
        <p:txBody>
          <a:bodyPr/>
          <a:lstStyle/>
          <a:p>
            <a:endParaRPr lang="en-SA">
              <a:solidFill>
                <a:srgbClr val="56648C"/>
              </a:solidFill>
            </a:endParaRPr>
          </a:p>
        </p:txBody>
      </p:sp>
      <p:sp>
        <p:nvSpPr>
          <p:cNvPr id="14" name="cell 4,1"/>
          <p:cNvSpPr/>
          <p:nvPr/>
        </p:nvSpPr>
        <p:spPr>
          <a:xfrm>
            <a:off x="4517136" y="2368296"/>
            <a:ext cx="841248" cy="841248"/>
          </a:xfrm>
          <a:prstGeom prst="roundRect">
            <a:avLst>
              <a:gd name="adj" fmla="val 10870"/>
            </a:avLst>
          </a:prstGeom>
          <a:solidFill>
            <a:srgbClr val="10132A"/>
          </a:solidFill>
          <a:ln/>
        </p:spPr>
        <p:txBody>
          <a:bodyPr/>
          <a:lstStyle/>
          <a:p>
            <a:endParaRPr lang="en-SA"/>
          </a:p>
        </p:txBody>
      </p:sp>
      <p:sp>
        <p:nvSpPr>
          <p:cNvPr id="15" name="cell 0,2"/>
          <p:cNvSpPr/>
          <p:nvPr/>
        </p:nvSpPr>
        <p:spPr>
          <a:xfrm>
            <a:off x="859536" y="3282696"/>
            <a:ext cx="841248" cy="841248"/>
          </a:xfrm>
          <a:prstGeom prst="roundRect">
            <a:avLst>
              <a:gd name="adj" fmla="val 10870"/>
            </a:avLst>
          </a:prstGeom>
          <a:solidFill>
            <a:srgbClr val="EEF9F3"/>
          </a:solidFill>
          <a:ln/>
        </p:spPr>
        <p:txBody>
          <a:bodyPr/>
          <a:lstStyle/>
          <a:p>
            <a:endParaRPr lang="en-SA"/>
          </a:p>
        </p:txBody>
      </p:sp>
      <p:sp>
        <p:nvSpPr>
          <p:cNvPr id="16" name="cell 1,2"/>
          <p:cNvSpPr/>
          <p:nvPr/>
        </p:nvSpPr>
        <p:spPr>
          <a:xfrm>
            <a:off x="1773936" y="3282696"/>
            <a:ext cx="841248" cy="841248"/>
          </a:xfrm>
          <a:prstGeom prst="roundRect">
            <a:avLst>
              <a:gd name="adj" fmla="val 10870"/>
            </a:avLst>
          </a:prstGeom>
          <a:solidFill>
            <a:srgbClr val="EEF9F3"/>
          </a:solidFill>
          <a:ln/>
        </p:spPr>
        <p:txBody>
          <a:bodyPr/>
          <a:lstStyle/>
          <a:p>
            <a:endParaRPr lang="en-SA"/>
          </a:p>
        </p:txBody>
      </p:sp>
      <p:sp>
        <p:nvSpPr>
          <p:cNvPr id="17" name="cell 2,2"/>
          <p:cNvSpPr/>
          <p:nvPr/>
        </p:nvSpPr>
        <p:spPr>
          <a:xfrm>
            <a:off x="2688336" y="3282696"/>
            <a:ext cx="841248" cy="841248"/>
          </a:xfrm>
          <a:prstGeom prst="roundRect">
            <a:avLst>
              <a:gd name="adj" fmla="val 10870"/>
            </a:avLst>
          </a:prstGeom>
          <a:solidFill>
            <a:srgbClr val="EEF9F3"/>
          </a:solidFill>
          <a:ln/>
        </p:spPr>
        <p:txBody>
          <a:bodyPr/>
          <a:lstStyle/>
          <a:p>
            <a:endParaRPr lang="en-SA"/>
          </a:p>
        </p:txBody>
      </p:sp>
      <p:sp>
        <p:nvSpPr>
          <p:cNvPr id="18" name="cell 3,2"/>
          <p:cNvSpPr/>
          <p:nvPr/>
        </p:nvSpPr>
        <p:spPr>
          <a:xfrm>
            <a:off x="3602736" y="3282696"/>
            <a:ext cx="841248" cy="841248"/>
          </a:xfrm>
          <a:prstGeom prst="roundRect">
            <a:avLst>
              <a:gd name="adj" fmla="val 10870"/>
            </a:avLst>
          </a:prstGeom>
          <a:solidFill>
            <a:srgbClr val="EEF9F3"/>
          </a:solidFill>
          <a:ln/>
        </p:spPr>
        <p:txBody>
          <a:bodyPr/>
          <a:lstStyle/>
          <a:p>
            <a:endParaRPr lang="en-SA"/>
          </a:p>
        </p:txBody>
      </p:sp>
      <p:sp>
        <p:nvSpPr>
          <p:cNvPr id="19" name="cell 4,2"/>
          <p:cNvSpPr/>
          <p:nvPr/>
        </p:nvSpPr>
        <p:spPr>
          <a:xfrm>
            <a:off x="4517136" y="3282696"/>
            <a:ext cx="841248" cy="841248"/>
          </a:xfrm>
          <a:prstGeom prst="roundRect">
            <a:avLst>
              <a:gd name="adj" fmla="val 10870"/>
            </a:avLst>
          </a:prstGeom>
          <a:solidFill>
            <a:srgbClr val="10132A"/>
          </a:solidFill>
          <a:ln/>
        </p:spPr>
        <p:txBody>
          <a:bodyPr/>
          <a:lstStyle/>
          <a:p>
            <a:endParaRPr lang="en-SA"/>
          </a:p>
        </p:txBody>
      </p:sp>
      <p:sp>
        <p:nvSpPr>
          <p:cNvPr id="20" name="cell 0,3"/>
          <p:cNvSpPr/>
          <p:nvPr/>
        </p:nvSpPr>
        <p:spPr>
          <a:xfrm>
            <a:off x="859536" y="4197096"/>
            <a:ext cx="841248" cy="841248"/>
          </a:xfrm>
          <a:prstGeom prst="roundRect">
            <a:avLst>
              <a:gd name="adj" fmla="val 10870"/>
            </a:avLst>
          </a:prstGeom>
          <a:solidFill>
            <a:srgbClr val="EEF9F3"/>
          </a:solidFill>
          <a:ln/>
        </p:spPr>
        <p:txBody>
          <a:bodyPr/>
          <a:lstStyle/>
          <a:p>
            <a:endParaRPr lang="en-SA"/>
          </a:p>
        </p:txBody>
      </p:sp>
      <p:sp>
        <p:nvSpPr>
          <p:cNvPr id="21" name="cell 1,3"/>
          <p:cNvSpPr/>
          <p:nvPr/>
        </p:nvSpPr>
        <p:spPr>
          <a:xfrm>
            <a:off x="1773936" y="4197096"/>
            <a:ext cx="841248" cy="841248"/>
          </a:xfrm>
          <a:prstGeom prst="roundRect">
            <a:avLst>
              <a:gd name="adj" fmla="val 10870"/>
            </a:avLst>
          </a:prstGeom>
          <a:solidFill>
            <a:srgbClr val="EEF9F3"/>
          </a:solidFill>
          <a:ln/>
        </p:spPr>
        <p:txBody>
          <a:bodyPr/>
          <a:lstStyle/>
          <a:p>
            <a:endParaRPr lang="en-SA"/>
          </a:p>
        </p:txBody>
      </p:sp>
      <p:sp>
        <p:nvSpPr>
          <p:cNvPr id="22" name="cell 2,3"/>
          <p:cNvSpPr/>
          <p:nvPr/>
        </p:nvSpPr>
        <p:spPr>
          <a:xfrm>
            <a:off x="2688336" y="4197096"/>
            <a:ext cx="841248" cy="841248"/>
          </a:xfrm>
          <a:prstGeom prst="roundRect">
            <a:avLst>
              <a:gd name="adj" fmla="val 10870"/>
            </a:avLst>
          </a:prstGeom>
          <a:solidFill>
            <a:srgbClr val="56648C"/>
          </a:solidFill>
          <a:ln/>
        </p:spPr>
        <p:txBody>
          <a:bodyPr/>
          <a:lstStyle/>
          <a:p>
            <a:endParaRPr lang="en-SA"/>
          </a:p>
        </p:txBody>
      </p:sp>
      <p:sp>
        <p:nvSpPr>
          <p:cNvPr id="23" name="cell 3,3"/>
          <p:cNvSpPr/>
          <p:nvPr/>
        </p:nvSpPr>
        <p:spPr>
          <a:xfrm>
            <a:off x="3602736" y="4197096"/>
            <a:ext cx="841248" cy="841248"/>
          </a:xfrm>
          <a:prstGeom prst="roundRect">
            <a:avLst>
              <a:gd name="adj" fmla="val 10870"/>
            </a:avLst>
          </a:prstGeom>
          <a:solidFill>
            <a:srgbClr val="EEF9F3"/>
          </a:solidFill>
          <a:ln/>
        </p:spPr>
        <p:txBody>
          <a:bodyPr/>
          <a:lstStyle/>
          <a:p>
            <a:endParaRPr lang="en-SA"/>
          </a:p>
        </p:txBody>
      </p:sp>
      <p:sp>
        <p:nvSpPr>
          <p:cNvPr id="24" name="cell 4,3"/>
          <p:cNvSpPr/>
          <p:nvPr/>
        </p:nvSpPr>
        <p:spPr>
          <a:xfrm>
            <a:off x="4517136" y="4197096"/>
            <a:ext cx="841248" cy="841248"/>
          </a:xfrm>
          <a:prstGeom prst="roundRect">
            <a:avLst>
              <a:gd name="adj" fmla="val 10870"/>
            </a:avLst>
          </a:prstGeom>
          <a:solidFill>
            <a:srgbClr val="10132A"/>
          </a:solidFill>
          <a:ln/>
        </p:spPr>
        <p:txBody>
          <a:bodyPr/>
          <a:lstStyle/>
          <a:p>
            <a:endParaRPr lang="en-SA"/>
          </a:p>
        </p:txBody>
      </p:sp>
      <p:sp>
        <p:nvSpPr>
          <p:cNvPr id="25" name="cell 0,4"/>
          <p:cNvSpPr/>
          <p:nvPr/>
        </p:nvSpPr>
        <p:spPr>
          <a:xfrm>
            <a:off x="859536" y="5111496"/>
            <a:ext cx="841248" cy="841248"/>
          </a:xfrm>
          <a:prstGeom prst="roundRect">
            <a:avLst>
              <a:gd name="adj" fmla="val 10870"/>
            </a:avLst>
          </a:prstGeom>
          <a:solidFill>
            <a:srgbClr val="10132A"/>
          </a:solidFill>
          <a:ln/>
        </p:spPr>
        <p:txBody>
          <a:bodyPr/>
          <a:lstStyle/>
          <a:p>
            <a:endParaRPr lang="en-SA"/>
          </a:p>
        </p:txBody>
      </p:sp>
      <p:sp>
        <p:nvSpPr>
          <p:cNvPr id="26" name="cell 1,4"/>
          <p:cNvSpPr/>
          <p:nvPr/>
        </p:nvSpPr>
        <p:spPr>
          <a:xfrm>
            <a:off x="1773936" y="5111496"/>
            <a:ext cx="841248" cy="841248"/>
          </a:xfrm>
          <a:prstGeom prst="roundRect">
            <a:avLst>
              <a:gd name="adj" fmla="val 10870"/>
            </a:avLst>
          </a:prstGeom>
          <a:solidFill>
            <a:srgbClr val="10132A"/>
          </a:solidFill>
          <a:ln/>
        </p:spPr>
        <p:txBody>
          <a:bodyPr/>
          <a:lstStyle/>
          <a:p>
            <a:endParaRPr lang="en-SA"/>
          </a:p>
        </p:txBody>
      </p:sp>
      <p:sp>
        <p:nvSpPr>
          <p:cNvPr id="27" name="cell 2,4"/>
          <p:cNvSpPr/>
          <p:nvPr/>
        </p:nvSpPr>
        <p:spPr>
          <a:xfrm>
            <a:off x="2688336" y="5111496"/>
            <a:ext cx="841248" cy="841248"/>
          </a:xfrm>
          <a:prstGeom prst="roundRect">
            <a:avLst>
              <a:gd name="adj" fmla="val 10870"/>
            </a:avLst>
          </a:prstGeom>
          <a:solidFill>
            <a:srgbClr val="10132A"/>
          </a:solidFill>
          <a:ln/>
        </p:spPr>
        <p:txBody>
          <a:bodyPr/>
          <a:lstStyle/>
          <a:p>
            <a:endParaRPr lang="en-SA"/>
          </a:p>
        </p:txBody>
      </p:sp>
      <p:sp>
        <p:nvSpPr>
          <p:cNvPr id="28" name="cell 3,4"/>
          <p:cNvSpPr/>
          <p:nvPr/>
        </p:nvSpPr>
        <p:spPr>
          <a:xfrm>
            <a:off x="3602736" y="5111496"/>
            <a:ext cx="841248" cy="841248"/>
          </a:xfrm>
          <a:prstGeom prst="roundRect">
            <a:avLst>
              <a:gd name="adj" fmla="val 10870"/>
            </a:avLst>
          </a:prstGeom>
          <a:solidFill>
            <a:srgbClr val="10132A"/>
          </a:solidFill>
          <a:ln/>
        </p:spPr>
        <p:txBody>
          <a:bodyPr/>
          <a:lstStyle/>
          <a:p>
            <a:endParaRPr lang="en-SA"/>
          </a:p>
        </p:txBody>
      </p:sp>
      <p:sp>
        <p:nvSpPr>
          <p:cNvPr id="29" name="cell 4,4"/>
          <p:cNvSpPr/>
          <p:nvPr/>
        </p:nvSpPr>
        <p:spPr>
          <a:xfrm>
            <a:off x="4517136" y="5111496"/>
            <a:ext cx="841248" cy="841248"/>
          </a:xfrm>
          <a:prstGeom prst="roundRect">
            <a:avLst>
              <a:gd name="adj" fmla="val 10870"/>
            </a:avLst>
          </a:prstGeom>
          <a:solidFill>
            <a:srgbClr val="10132A"/>
          </a:solidFill>
          <a:ln/>
        </p:spPr>
        <p:txBody>
          <a:bodyPr/>
          <a:lstStyle/>
          <a:p>
            <a:endParaRPr lang="en-SA"/>
          </a:p>
        </p:txBody>
      </p:sp>
      <p:pic>
        <p:nvPicPr>
          <p:cNvPr id="30" name="princess-lost.png" descr="/home/claude/lesson/img/princess-lost.png"/>
          <p:cNvPicPr>
            <a:picLocks noChangeAspect="1"/>
          </p:cNvPicPr>
          <p:nvPr/>
        </p:nvPicPr>
        <p:blipFill>
          <a:blip r:embed="rId3"/>
          <a:stretch>
            <a:fillRect/>
          </a:stretch>
        </p:blipFill>
        <p:spPr>
          <a:xfrm>
            <a:off x="3767328" y="4251960"/>
            <a:ext cx="461337" cy="731520"/>
          </a:xfrm>
          <a:prstGeom prst="rect">
            <a:avLst/>
          </a:prstGeom>
        </p:spPr>
      </p:pic>
      <p:pic>
        <p:nvPicPr>
          <p:cNvPr id="31" name="doodlebot-curious.png" descr="/home/claude/lesson/img/doodlebot-curious.png"/>
          <p:cNvPicPr>
            <a:picLocks noChangeAspect="1"/>
          </p:cNvPicPr>
          <p:nvPr/>
        </p:nvPicPr>
        <p:blipFill>
          <a:blip r:embed="rId4"/>
          <a:stretch>
            <a:fillRect/>
          </a:stretch>
        </p:blipFill>
        <p:spPr>
          <a:xfrm>
            <a:off x="2770632" y="3355848"/>
            <a:ext cx="547835" cy="694944"/>
          </a:xfrm>
          <a:prstGeom prst="rect">
            <a:avLst/>
          </a:prstGeom>
        </p:spPr>
      </p:pic>
      <p:sp>
        <p:nvSpPr>
          <p:cNvPr id="32" name="question card"/>
          <p:cNvSpPr/>
          <p:nvPr/>
        </p:nvSpPr>
        <p:spPr>
          <a:xfrm>
            <a:off x="6126480" y="1417320"/>
            <a:ext cx="5532120" cy="2743200"/>
          </a:xfrm>
          <a:prstGeom prst="roundRect">
            <a:avLst>
              <a:gd name="adj" fmla="val 6667"/>
            </a:avLst>
          </a:prstGeom>
          <a:solidFill>
            <a:schemeClr val="accent2">
              <a:alpha val="18000"/>
            </a:schemeClr>
          </a:solidFill>
          <a:ln/>
        </p:spPr>
        <p:txBody>
          <a:bodyPr/>
          <a:lstStyle/>
          <a:p>
            <a:endParaRPr lang="en-SA"/>
          </a:p>
        </p:txBody>
      </p:sp>
      <p:sp>
        <p:nvSpPr>
          <p:cNvPr id="33" name="turn question"/>
          <p:cNvSpPr txBox="1"/>
          <p:nvPr/>
        </p:nvSpPr>
        <p:spPr>
          <a:xfrm>
            <a:off x="6446520" y="1691640"/>
            <a:ext cx="4937760" cy="1463040"/>
          </a:xfrm>
          <a:prstGeom prst="rect">
            <a:avLst/>
          </a:prstGeom>
          <a:noFill/>
          <a:ln/>
        </p:spPr>
        <p:txBody>
          <a:bodyPr wrap="square" lIns="0" tIns="0" rIns="0" bIns="0" rtlCol="0" anchor="t"/>
          <a:lstStyle/>
          <a:p>
            <a:pPr marL="0" indent="0">
              <a:buNone/>
            </a:pPr>
            <a:r>
              <a:rPr lang="en-US" sz="2800" b="1" dirty="0">
                <a:solidFill>
                  <a:schemeClr val="tx1"/>
                </a:solidFill>
                <a:latin typeface="Century Schoolbook" pitchFamily="34" charset="0"/>
                <a:ea typeface="Century Schoolbook" pitchFamily="34" charset="-122"/>
                <a:cs typeface="Century Schoolbook" pitchFamily="34" charset="-120"/>
              </a:rPr>
              <a:t>Look who appeared! </a:t>
            </a:r>
          </a:p>
          <a:p>
            <a:pPr marL="0" indent="0">
              <a:buNone/>
            </a:pPr>
            <a:endParaRPr lang="en-US" sz="2800" b="1" dirty="0">
              <a:latin typeface="Century Schoolbook" pitchFamily="34" charset="0"/>
              <a:ea typeface="Century Schoolbook" pitchFamily="34" charset="-122"/>
              <a:cs typeface="Century Schoolbook" pitchFamily="34" charset="-120"/>
            </a:endParaRPr>
          </a:p>
          <a:p>
            <a:pPr marL="0" indent="0">
              <a:buNone/>
            </a:pPr>
            <a:r>
              <a:rPr lang="en-US" sz="2800" b="1" dirty="0">
                <a:solidFill>
                  <a:schemeClr val="tx1"/>
                </a:solidFill>
                <a:latin typeface="Century Schoolbook" pitchFamily="34" charset="0"/>
                <a:ea typeface="Century Schoolbook" pitchFamily="34" charset="-122"/>
                <a:cs typeface="Century Schoolbook" pitchFamily="34" charset="-120"/>
              </a:rPr>
              <a:t>How did Doodlebot find her?</a:t>
            </a:r>
            <a:endParaRPr lang="en-US" sz="2800" dirty="0"/>
          </a:p>
        </p:txBody>
      </p:sp>
      <p:sp>
        <p:nvSpPr>
          <p:cNvPr id="34" name="turn prompt"/>
          <p:cNvSpPr txBox="1"/>
          <p:nvPr/>
        </p:nvSpPr>
        <p:spPr>
          <a:xfrm>
            <a:off x="6446520" y="3589020"/>
            <a:ext cx="4937760" cy="548640"/>
          </a:xfrm>
          <a:prstGeom prst="rect">
            <a:avLst/>
          </a:prstGeom>
          <a:noFill/>
          <a:ln/>
        </p:spPr>
        <p:txBody>
          <a:bodyPr wrap="square" lIns="0" tIns="0" rIns="0" bIns="0" rtlCol="0" anchor="t"/>
          <a:lstStyle/>
          <a:p>
            <a:pPr marL="0" indent="0">
              <a:buNone/>
            </a:pPr>
            <a:r>
              <a:rPr lang="en-US" sz="2000" dirty="0">
                <a:solidFill>
                  <a:schemeClr val="tx2"/>
                </a:solidFill>
              </a:rPr>
              <a:t>Its sensor reached her square!</a:t>
            </a:r>
            <a:endParaRPr lang="en-US" sz="2000" dirty="0"/>
          </a:p>
        </p:txBody>
      </p:sp>
      <p:sp>
        <p:nvSpPr>
          <p:cNvPr id="35" name="legend black"/>
          <p:cNvSpPr txBox="1"/>
          <p:nvPr/>
        </p:nvSpPr>
        <p:spPr>
          <a:xfrm>
            <a:off x="6126480" y="4434840"/>
            <a:ext cx="5486400" cy="411480"/>
          </a:xfrm>
          <a:prstGeom prst="rect">
            <a:avLst/>
          </a:prstGeom>
          <a:noFill/>
          <a:ln/>
        </p:spPr>
        <p:txBody>
          <a:bodyPr wrap="square" lIns="0" tIns="0" rIns="0" bIns="0" rtlCol="0" anchor="t"/>
          <a:lstStyle/>
          <a:p>
            <a:pPr marL="0" indent="0">
              <a:buNone/>
            </a:pPr>
            <a:r>
              <a:rPr lang="en-US" sz="1800" dirty="0">
                <a:solidFill>
                  <a:srgbClr val="101329"/>
                </a:solidFill>
              </a:rPr>
              <a:t>Black = Doodlebot hasn't sensed it yet</a:t>
            </a:r>
          </a:p>
        </p:txBody>
      </p:sp>
      <p:sp>
        <p:nvSpPr>
          <p:cNvPr id="36" name="legend wall"/>
          <p:cNvSpPr txBox="1"/>
          <p:nvPr/>
        </p:nvSpPr>
        <p:spPr>
          <a:xfrm>
            <a:off x="6126480" y="4892040"/>
            <a:ext cx="5486400" cy="411480"/>
          </a:xfrm>
          <a:prstGeom prst="rect">
            <a:avLst/>
          </a:prstGeom>
          <a:noFill/>
          <a:ln/>
        </p:spPr>
        <p:txBody>
          <a:bodyPr wrap="square" lIns="0" tIns="0" rIns="0" bIns="0" rtlCol="0" anchor="t"/>
          <a:lstStyle/>
          <a:p>
            <a:pPr marL="0" indent="0">
              <a:buNone/>
            </a:pPr>
            <a:r>
              <a:rPr lang="en-US" sz="1800" dirty="0">
                <a:solidFill>
                  <a:srgbClr val="56648C"/>
                </a:solidFill>
              </a:rPr>
              <a:t>Dark blue = wall it has sensed</a:t>
            </a:r>
          </a:p>
        </p:txBody>
      </p:sp>
      <p:sp>
        <p:nvSpPr>
          <p:cNvPr id="37"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Princess-Bot is lost!</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sp>
        <p:nvSpPr>
          <p:cNvPr id="5" name="welcome screenshot frame"/>
          <p:cNvSpPr/>
          <p:nvPr/>
        </p:nvSpPr>
        <p:spPr>
          <a:xfrm>
            <a:off x="548640" y="1399032"/>
            <a:ext cx="6949440" cy="4425696"/>
          </a:xfrm>
          <a:prstGeom prst="roundRect">
            <a:avLst>
              <a:gd name="adj" fmla="val 3719"/>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6" name="welcome screenshot" descr="/home/claude/lesson/img/welcome.png"/>
          <p:cNvPicPr>
            <a:picLocks noChangeAspect="1"/>
          </p:cNvPicPr>
          <p:nvPr/>
        </p:nvPicPr>
        <p:blipFill>
          <a:blip r:embed="rId3"/>
          <a:stretch>
            <a:fillRect/>
          </a:stretch>
        </p:blipFill>
        <p:spPr>
          <a:xfrm>
            <a:off x="658368" y="1508760"/>
            <a:ext cx="6729984" cy="4206240"/>
          </a:xfrm>
          <a:prstGeom prst="rect">
            <a:avLst/>
          </a:prstGeom>
        </p:spPr>
      </p:pic>
      <p:sp>
        <p:nvSpPr>
          <p:cNvPr id="7" name="hook 1"/>
          <p:cNvSpPr txBox="1"/>
          <p:nvPr/>
        </p:nvSpPr>
        <p:spPr>
          <a:xfrm>
            <a:off x="7962696" y="1649628"/>
            <a:ext cx="3794760" cy="1188720"/>
          </a:xfrm>
          <a:prstGeom prst="rect">
            <a:avLst/>
          </a:prstGeom>
          <a:noFill/>
          <a:ln/>
        </p:spPr>
        <p:txBody>
          <a:bodyPr wrap="square" lIns="0" tIns="0" rIns="0" bIns="0" rtlCol="0" anchor="t"/>
          <a:lstStyle/>
          <a:p>
            <a:pPr marL="0" indent="0" algn="ctr">
              <a:buNone/>
            </a:pPr>
            <a:r>
              <a:rPr lang="en-US" sz="2600" b="1" dirty="0">
                <a:solidFill>
                  <a:schemeClr val="tx1"/>
                </a:solidFill>
                <a:latin typeface="Century Schoolbook" pitchFamily="34" charset="0"/>
                <a:ea typeface="Century Schoolbook" pitchFamily="34" charset="-122"/>
                <a:cs typeface="Century Schoolbook" pitchFamily="34" charset="-120"/>
              </a:rPr>
              <a:t>Doodlebot can't see the whole maze.</a:t>
            </a:r>
            <a:endParaRPr lang="en-US" sz="2600" dirty="0"/>
          </a:p>
        </p:txBody>
      </p:sp>
      <p:sp>
        <p:nvSpPr>
          <p:cNvPr id="8" name="hook 2"/>
          <p:cNvSpPr txBox="1"/>
          <p:nvPr/>
        </p:nvSpPr>
        <p:spPr>
          <a:xfrm>
            <a:off x="7962696" y="2929788"/>
            <a:ext cx="3794760" cy="1737360"/>
          </a:xfrm>
          <a:prstGeom prst="rect">
            <a:avLst/>
          </a:prstGeom>
          <a:noFill/>
          <a:ln/>
        </p:spPr>
        <p:txBody>
          <a:bodyPr wrap="square" lIns="0" tIns="0" rIns="0" bIns="0" rtlCol="0" anchor="t"/>
          <a:lstStyle/>
          <a:p>
            <a:pPr marL="0" indent="0" algn="ctr">
              <a:buNone/>
            </a:pPr>
            <a:r>
              <a:rPr lang="en-US" sz="1800" dirty="0">
                <a:solidFill>
                  <a:schemeClr val="tx2"/>
                </a:solidFill>
              </a:rPr>
              <a:t>Just like you in the Mystery Map, it has to explore, discover the maze square by square, and then find the way to its friend.</a:t>
            </a:r>
            <a:endParaRPr lang="en-US" sz="1800" dirty="0"/>
          </a:p>
        </p:txBody>
      </p:sp>
      <p:pic>
        <p:nvPicPr>
          <p:cNvPr id="9" name="doodlebot-curious.png" descr="/home/claude/lesson/img/doodlebot-curious.png"/>
          <p:cNvPicPr>
            <a:picLocks noChangeAspect="1"/>
          </p:cNvPicPr>
          <p:nvPr/>
        </p:nvPicPr>
        <p:blipFill>
          <a:blip r:embed="rId4"/>
          <a:stretch>
            <a:fillRect/>
          </a:stretch>
        </p:blipFill>
        <p:spPr>
          <a:xfrm>
            <a:off x="9475161" y="4453992"/>
            <a:ext cx="1189378" cy="1508760"/>
          </a:xfrm>
          <a:prstGeom prst="rect">
            <a:avLst/>
          </a:prstGeom>
        </p:spPr>
      </p:pic>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How Doodlebot explores</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sp>
        <p:nvSpPr>
          <p:cNvPr id="5" name="part label"/>
          <p:cNvSpPr txBox="1"/>
          <p:nvPr/>
        </p:nvSpPr>
        <p:spPr>
          <a:xfrm>
            <a:off x="548640" y="1261872"/>
            <a:ext cx="5486400" cy="411480"/>
          </a:xfrm>
          <a:prstGeom prst="rect">
            <a:avLst/>
          </a:prstGeom>
          <a:noFill/>
          <a:ln/>
        </p:spPr>
        <p:txBody>
          <a:bodyPr wrap="square" lIns="0" tIns="0" rIns="0" bIns="0" rtlCol="0" anchor="t"/>
          <a:lstStyle/>
          <a:p>
            <a:pPr marL="0" indent="0">
              <a:buNone/>
            </a:pPr>
            <a:r>
              <a:rPr lang="en-US" sz="2000" b="1" dirty="0">
                <a:solidFill>
                  <a:schemeClr val="accent1"/>
                </a:solidFill>
              </a:rPr>
              <a:t>PART 1 · Explore</a:t>
            </a:r>
            <a:endParaRPr lang="en-US" sz="2000" dirty="0"/>
          </a:p>
        </p:txBody>
      </p:sp>
      <p:sp>
        <p:nvSpPr>
          <p:cNvPr id="6" name="Sense card"/>
          <p:cNvSpPr/>
          <p:nvPr/>
        </p:nvSpPr>
        <p:spPr>
          <a:xfrm>
            <a:off x="548640" y="1783080"/>
            <a:ext cx="2697480" cy="3703320"/>
          </a:xfrm>
          <a:prstGeom prst="roundRect">
            <a:avLst>
              <a:gd name="adj" fmla="val 7458"/>
            </a:avLst>
          </a:prstGeom>
          <a:solidFill>
            <a:schemeClr val="accent1">
              <a:alpha val="18000"/>
            </a:schemeClr>
          </a:solidFill>
          <a:ln/>
        </p:spPr>
        <p:txBody>
          <a:bodyPr/>
          <a:lstStyle/>
          <a:p>
            <a:endParaRPr lang="en-SA"/>
          </a:p>
        </p:txBody>
      </p:sp>
      <p:sp>
        <p:nvSpPr>
          <p:cNvPr id="7" name="badge circle 1"/>
          <p:cNvSpPr/>
          <p:nvPr/>
        </p:nvSpPr>
        <p:spPr>
          <a:xfrm>
            <a:off x="731520" y="1965960"/>
            <a:ext cx="548640" cy="548640"/>
          </a:xfrm>
          <a:prstGeom prst="ellipse">
            <a:avLst/>
          </a:prstGeom>
          <a:solidFill>
            <a:schemeClr val="accent1"/>
          </a:solidFill>
          <a:ln/>
        </p:spPr>
        <p:txBody>
          <a:bodyPr/>
          <a:lstStyle/>
          <a:p>
            <a:endParaRPr lang="en-SA"/>
          </a:p>
        </p:txBody>
      </p:sp>
      <p:sp>
        <p:nvSpPr>
          <p:cNvPr id="8" name="badge 1"/>
          <p:cNvSpPr txBox="1"/>
          <p:nvPr/>
        </p:nvSpPr>
        <p:spPr>
          <a:xfrm>
            <a:off x="731520"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pic>
        <p:nvPicPr>
          <p:cNvPr id="9" name="doodlebot-curious.png" descr="/home/claude/lesson/img/doodlebot-curious.png"/>
          <p:cNvPicPr>
            <a:picLocks noChangeAspect="1"/>
          </p:cNvPicPr>
          <p:nvPr/>
        </p:nvPicPr>
        <p:blipFill>
          <a:blip r:embed="rId3"/>
          <a:stretch>
            <a:fillRect/>
          </a:stretch>
        </p:blipFill>
        <p:spPr>
          <a:xfrm>
            <a:off x="1230607" y="2057400"/>
            <a:ext cx="1333545" cy="1691640"/>
          </a:xfrm>
          <a:prstGeom prst="rect">
            <a:avLst/>
          </a:prstGeom>
        </p:spPr>
      </p:pic>
      <p:sp>
        <p:nvSpPr>
          <p:cNvPr id="10" name="Sense heading"/>
          <p:cNvSpPr txBox="1"/>
          <p:nvPr/>
        </p:nvSpPr>
        <p:spPr>
          <a:xfrm>
            <a:off x="548640" y="3840480"/>
            <a:ext cx="2697480" cy="594360"/>
          </a:xfrm>
          <a:prstGeom prst="rect">
            <a:avLst/>
          </a:prstGeom>
          <a:noFill/>
          <a:ln/>
        </p:spPr>
        <p:txBody>
          <a:bodyPr wrap="square" lIns="0" tIns="0" rIns="0" bIns="0" rtlCol="0" anchor="t"/>
          <a:lstStyle/>
          <a:p>
            <a:pPr marL="0" indent="0" algn="ctr">
              <a:buNone/>
            </a:pPr>
            <a:r>
              <a:rPr lang="en-US" sz="3200" b="1" dirty="0">
                <a:solidFill>
                  <a:schemeClr val="tx1"/>
                </a:solidFill>
                <a:latin typeface="Century Schoolbook" pitchFamily="34" charset="0"/>
                <a:ea typeface="Century Schoolbook" pitchFamily="34" charset="-122"/>
                <a:cs typeface="Century Schoolbook" pitchFamily="34" charset="-120"/>
              </a:rPr>
              <a:t>Sense</a:t>
            </a:r>
            <a:endParaRPr lang="en-US" sz="3200" dirty="0"/>
          </a:p>
        </p:txBody>
      </p:sp>
      <p:sp>
        <p:nvSpPr>
          <p:cNvPr id="11" name="Sense text"/>
          <p:cNvSpPr txBox="1"/>
          <p:nvPr/>
        </p:nvSpPr>
        <p:spPr>
          <a:xfrm>
            <a:off x="731520" y="4480560"/>
            <a:ext cx="2331720" cy="914400"/>
          </a:xfrm>
          <a:prstGeom prst="rect">
            <a:avLst/>
          </a:prstGeom>
          <a:noFill/>
          <a:ln/>
        </p:spPr>
        <p:txBody>
          <a:bodyPr wrap="square" lIns="0" tIns="0" rIns="0" bIns="0" rtlCol="0" anchor="t"/>
          <a:lstStyle/>
          <a:p>
            <a:pPr marL="0" indent="0" algn="ctr">
              <a:buNone/>
            </a:pPr>
            <a:r>
              <a:rPr lang="en-US" sz="1900" dirty="0">
                <a:solidFill>
                  <a:schemeClr val="tx2"/>
                </a:solidFill>
              </a:rPr>
              <a:t>Look around!</a:t>
            </a:r>
            <a:endParaRPr lang="en-US" sz="1900" dirty="0"/>
          </a:p>
        </p:txBody>
      </p:sp>
      <p:sp>
        <p:nvSpPr>
          <p:cNvPr id="12" name="arrow 0"/>
          <p:cNvSpPr txBox="1"/>
          <p:nvPr/>
        </p:nvSpPr>
        <p:spPr>
          <a:xfrm>
            <a:off x="3246120" y="2560320"/>
            <a:ext cx="384048" cy="54864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13" name="Map card"/>
          <p:cNvSpPr/>
          <p:nvPr/>
        </p:nvSpPr>
        <p:spPr>
          <a:xfrm>
            <a:off x="3630168" y="1783080"/>
            <a:ext cx="2697480" cy="3703320"/>
          </a:xfrm>
          <a:prstGeom prst="roundRect">
            <a:avLst>
              <a:gd name="adj" fmla="val 7458"/>
            </a:avLst>
          </a:prstGeom>
          <a:solidFill>
            <a:schemeClr val="accent6">
              <a:alpha val="18000"/>
            </a:schemeClr>
          </a:solidFill>
          <a:ln/>
        </p:spPr>
        <p:txBody>
          <a:bodyPr/>
          <a:lstStyle/>
          <a:p>
            <a:endParaRPr lang="en-SA"/>
          </a:p>
        </p:txBody>
      </p:sp>
      <p:sp>
        <p:nvSpPr>
          <p:cNvPr id="14" name="badge circle 2"/>
          <p:cNvSpPr/>
          <p:nvPr/>
        </p:nvSpPr>
        <p:spPr>
          <a:xfrm>
            <a:off x="3813048" y="1965960"/>
            <a:ext cx="548640" cy="548640"/>
          </a:xfrm>
          <a:prstGeom prst="ellipse">
            <a:avLst/>
          </a:prstGeom>
          <a:solidFill>
            <a:schemeClr val="accent6"/>
          </a:solidFill>
          <a:ln/>
        </p:spPr>
        <p:txBody>
          <a:bodyPr/>
          <a:lstStyle/>
          <a:p>
            <a:endParaRPr lang="en-SA"/>
          </a:p>
        </p:txBody>
      </p:sp>
      <p:sp>
        <p:nvSpPr>
          <p:cNvPr id="15" name="badge 2"/>
          <p:cNvSpPr txBox="1"/>
          <p:nvPr/>
        </p:nvSpPr>
        <p:spPr>
          <a:xfrm>
            <a:off x="3813048"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pic>
        <p:nvPicPr>
          <p:cNvPr id="16" name="doodlebot-idle.png" descr="/home/claude/lesson/img/doodlebot-idle.png"/>
          <p:cNvPicPr>
            <a:picLocks noChangeAspect="1"/>
          </p:cNvPicPr>
          <p:nvPr/>
        </p:nvPicPr>
        <p:blipFill>
          <a:blip r:embed="rId4"/>
          <a:stretch>
            <a:fillRect/>
          </a:stretch>
        </p:blipFill>
        <p:spPr>
          <a:xfrm>
            <a:off x="4434554" y="2057400"/>
            <a:ext cx="1088708" cy="1691640"/>
          </a:xfrm>
          <a:prstGeom prst="rect">
            <a:avLst/>
          </a:prstGeom>
        </p:spPr>
      </p:pic>
      <p:sp>
        <p:nvSpPr>
          <p:cNvPr id="17" name="Map heading"/>
          <p:cNvSpPr txBox="1"/>
          <p:nvPr/>
        </p:nvSpPr>
        <p:spPr>
          <a:xfrm>
            <a:off x="3630168" y="3840480"/>
            <a:ext cx="2697480" cy="594360"/>
          </a:xfrm>
          <a:prstGeom prst="rect">
            <a:avLst/>
          </a:prstGeom>
          <a:noFill/>
          <a:ln/>
        </p:spPr>
        <p:txBody>
          <a:bodyPr wrap="square" lIns="0" tIns="0" rIns="0" bIns="0" rtlCol="0" anchor="t"/>
          <a:lstStyle/>
          <a:p>
            <a:pPr marL="0" indent="0" algn="ctr">
              <a:buNone/>
            </a:pPr>
            <a:r>
              <a:rPr lang="en-US" sz="3200" b="1" dirty="0">
                <a:solidFill>
                  <a:schemeClr val="tx1"/>
                </a:solidFill>
                <a:latin typeface="Century Schoolbook" pitchFamily="34" charset="0"/>
                <a:ea typeface="Century Schoolbook" pitchFamily="34" charset="-122"/>
                <a:cs typeface="Century Schoolbook" pitchFamily="34" charset="-120"/>
              </a:rPr>
              <a:t>Map</a:t>
            </a:r>
            <a:endParaRPr lang="en-US" sz="3200" dirty="0"/>
          </a:p>
        </p:txBody>
      </p:sp>
      <p:sp>
        <p:nvSpPr>
          <p:cNvPr id="18" name="Map text"/>
          <p:cNvSpPr txBox="1"/>
          <p:nvPr/>
        </p:nvSpPr>
        <p:spPr>
          <a:xfrm>
            <a:off x="3813048" y="4480560"/>
            <a:ext cx="2331720" cy="914400"/>
          </a:xfrm>
          <a:prstGeom prst="rect">
            <a:avLst/>
          </a:prstGeom>
          <a:noFill/>
          <a:ln/>
        </p:spPr>
        <p:txBody>
          <a:bodyPr wrap="square" lIns="0" tIns="0" rIns="0" bIns="0" rtlCol="0" anchor="t"/>
          <a:lstStyle/>
          <a:p>
            <a:pPr marL="0" indent="0" algn="ctr">
              <a:buNone/>
            </a:pPr>
            <a:r>
              <a:rPr lang="en-US" sz="1900" dirty="0">
                <a:solidFill>
                  <a:schemeClr val="tx2"/>
                </a:solidFill>
              </a:rPr>
              <a:t>Remember what I see!</a:t>
            </a:r>
            <a:endParaRPr lang="en-US" sz="1900" dirty="0"/>
          </a:p>
        </p:txBody>
      </p:sp>
      <p:sp>
        <p:nvSpPr>
          <p:cNvPr id="19" name="arrow 1"/>
          <p:cNvSpPr txBox="1"/>
          <p:nvPr/>
        </p:nvSpPr>
        <p:spPr>
          <a:xfrm>
            <a:off x="6327648" y="2560320"/>
            <a:ext cx="384048" cy="54864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20" name="Move card"/>
          <p:cNvSpPr/>
          <p:nvPr/>
        </p:nvSpPr>
        <p:spPr>
          <a:xfrm>
            <a:off x="6711696" y="1783080"/>
            <a:ext cx="2697480" cy="3703320"/>
          </a:xfrm>
          <a:prstGeom prst="roundRect">
            <a:avLst>
              <a:gd name="adj" fmla="val 7458"/>
            </a:avLst>
          </a:prstGeom>
          <a:solidFill>
            <a:schemeClr val="accent3">
              <a:alpha val="18000"/>
            </a:schemeClr>
          </a:solidFill>
          <a:ln/>
        </p:spPr>
        <p:txBody>
          <a:bodyPr/>
          <a:lstStyle/>
          <a:p>
            <a:endParaRPr lang="en-SA"/>
          </a:p>
        </p:txBody>
      </p:sp>
      <p:sp>
        <p:nvSpPr>
          <p:cNvPr id="21" name="badge circle 3"/>
          <p:cNvSpPr/>
          <p:nvPr/>
        </p:nvSpPr>
        <p:spPr>
          <a:xfrm>
            <a:off x="6894576" y="1965960"/>
            <a:ext cx="548640" cy="548640"/>
          </a:xfrm>
          <a:prstGeom prst="ellipse">
            <a:avLst/>
          </a:prstGeom>
          <a:solidFill>
            <a:schemeClr val="accent3"/>
          </a:solidFill>
          <a:ln/>
        </p:spPr>
        <p:txBody>
          <a:bodyPr/>
          <a:lstStyle/>
          <a:p>
            <a:endParaRPr lang="en-SA"/>
          </a:p>
        </p:txBody>
      </p:sp>
      <p:sp>
        <p:nvSpPr>
          <p:cNvPr id="22" name="badge 3"/>
          <p:cNvSpPr txBox="1"/>
          <p:nvPr/>
        </p:nvSpPr>
        <p:spPr>
          <a:xfrm>
            <a:off x="6894576"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pic>
        <p:nvPicPr>
          <p:cNvPr id="23" name="doodlebot-curious.png" descr="/home/claude/lesson/img/doodlebot-curious.png"/>
          <p:cNvPicPr>
            <a:picLocks noChangeAspect="1"/>
          </p:cNvPicPr>
          <p:nvPr/>
        </p:nvPicPr>
        <p:blipFill>
          <a:blip r:embed="rId3"/>
          <a:stretch>
            <a:fillRect/>
          </a:stretch>
        </p:blipFill>
        <p:spPr>
          <a:xfrm>
            <a:off x="7393663" y="2057400"/>
            <a:ext cx="1333545" cy="1691640"/>
          </a:xfrm>
          <a:prstGeom prst="rect">
            <a:avLst/>
          </a:prstGeom>
        </p:spPr>
      </p:pic>
      <p:sp>
        <p:nvSpPr>
          <p:cNvPr id="24" name="Move heading"/>
          <p:cNvSpPr txBox="1"/>
          <p:nvPr/>
        </p:nvSpPr>
        <p:spPr>
          <a:xfrm>
            <a:off x="6711696" y="3840480"/>
            <a:ext cx="2697480" cy="594360"/>
          </a:xfrm>
          <a:prstGeom prst="rect">
            <a:avLst/>
          </a:prstGeom>
          <a:noFill/>
          <a:ln/>
        </p:spPr>
        <p:txBody>
          <a:bodyPr wrap="square" lIns="0" tIns="0" rIns="0" bIns="0" rtlCol="0" anchor="t"/>
          <a:lstStyle/>
          <a:p>
            <a:pPr marL="0" indent="0" algn="ctr">
              <a:buNone/>
            </a:pPr>
            <a:r>
              <a:rPr lang="en-US" sz="3200" b="1" dirty="0">
                <a:solidFill>
                  <a:schemeClr val="tx1"/>
                </a:solidFill>
                <a:latin typeface="Century Schoolbook" pitchFamily="34" charset="0"/>
                <a:ea typeface="Century Schoolbook" pitchFamily="34" charset="-122"/>
                <a:cs typeface="Century Schoolbook" pitchFamily="34" charset="-120"/>
              </a:rPr>
              <a:t>Move</a:t>
            </a:r>
            <a:endParaRPr lang="en-US" sz="3200" dirty="0"/>
          </a:p>
        </p:txBody>
      </p:sp>
      <p:sp>
        <p:nvSpPr>
          <p:cNvPr id="25" name="Move text"/>
          <p:cNvSpPr txBox="1"/>
          <p:nvPr/>
        </p:nvSpPr>
        <p:spPr>
          <a:xfrm>
            <a:off x="6894576" y="4480560"/>
            <a:ext cx="2331720" cy="914400"/>
          </a:xfrm>
          <a:prstGeom prst="rect">
            <a:avLst/>
          </a:prstGeom>
          <a:noFill/>
          <a:ln/>
        </p:spPr>
        <p:txBody>
          <a:bodyPr wrap="square" lIns="0" tIns="0" rIns="0" bIns="0" rtlCol="0" anchor="t"/>
          <a:lstStyle/>
          <a:p>
            <a:pPr marL="0" indent="0" algn="ctr">
              <a:buNone/>
            </a:pPr>
            <a:r>
              <a:rPr lang="en-US" sz="1900" dirty="0">
                <a:solidFill>
                  <a:schemeClr val="tx2"/>
                </a:solidFill>
              </a:rPr>
              <a:t>Head to the closest new place I can reach!</a:t>
            </a:r>
            <a:endParaRPr lang="en-US" sz="1900" dirty="0"/>
          </a:p>
        </p:txBody>
      </p:sp>
      <p:sp>
        <p:nvSpPr>
          <p:cNvPr id="26" name="repeat"/>
          <p:cNvSpPr txBox="1"/>
          <p:nvPr/>
        </p:nvSpPr>
        <p:spPr>
          <a:xfrm>
            <a:off x="548640" y="5669280"/>
            <a:ext cx="8869680" cy="457200"/>
          </a:xfrm>
          <a:prstGeom prst="rect">
            <a:avLst/>
          </a:prstGeom>
          <a:noFill/>
          <a:ln/>
        </p:spPr>
        <p:txBody>
          <a:bodyPr wrap="square" lIns="0" tIns="0" rIns="0" bIns="0" rtlCol="0" anchor="t"/>
          <a:lstStyle/>
          <a:p>
            <a:pPr marL="0" indent="0">
              <a:buNone/>
            </a:pPr>
            <a:r>
              <a:rPr lang="en-US" sz="2000" b="1" dirty="0">
                <a:solidFill>
                  <a:schemeClr val="tx2"/>
                </a:solidFill>
              </a:rPr>
              <a:t>↻  Repeat until there are no unexplored places left that I can reach.</a:t>
            </a:r>
            <a:endParaRPr lang="en-US" sz="2000" dirty="0"/>
          </a:p>
        </p:txBody>
      </p:sp>
      <p:sp>
        <p:nvSpPr>
          <p:cNvPr id="27" name="excited card"/>
          <p:cNvSpPr/>
          <p:nvPr/>
        </p:nvSpPr>
        <p:spPr>
          <a:xfrm>
            <a:off x="9829800" y="1783080"/>
            <a:ext cx="1828800" cy="3703320"/>
          </a:xfrm>
          <a:prstGeom prst="roundRect">
            <a:avLst>
              <a:gd name="adj" fmla="val 11000"/>
            </a:avLst>
          </a:prstGeom>
          <a:solidFill>
            <a:schemeClr val="accent4">
              <a:alpha val="16000"/>
            </a:schemeClr>
          </a:solidFill>
          <a:ln/>
        </p:spPr>
        <p:txBody>
          <a:bodyPr/>
          <a:lstStyle/>
          <a:p>
            <a:endParaRPr lang="en-SA"/>
          </a:p>
        </p:txBody>
      </p:sp>
      <p:pic>
        <p:nvPicPr>
          <p:cNvPr id="28" name="doodlebot-excited.png" descr="/home/claude/lesson/img/doodlebot-excited.png"/>
          <p:cNvPicPr>
            <a:picLocks noChangeAspect="1"/>
          </p:cNvPicPr>
          <p:nvPr/>
        </p:nvPicPr>
        <p:blipFill>
          <a:blip r:embed="rId5"/>
          <a:stretch>
            <a:fillRect/>
          </a:stretch>
        </p:blipFill>
        <p:spPr>
          <a:xfrm>
            <a:off x="10267152" y="2057400"/>
            <a:ext cx="954096" cy="1325880"/>
          </a:xfrm>
          <a:prstGeom prst="rect">
            <a:avLst/>
          </a:prstGeom>
        </p:spPr>
      </p:pic>
      <p:pic>
        <p:nvPicPr>
          <p:cNvPr id="29" name="princess-lost.png" descr="/home/claude/lesson/img/princess-lost.png"/>
          <p:cNvPicPr>
            <a:picLocks noChangeAspect="1"/>
          </p:cNvPicPr>
          <p:nvPr/>
        </p:nvPicPr>
        <p:blipFill>
          <a:blip r:embed="rId6"/>
          <a:stretch>
            <a:fillRect/>
          </a:stretch>
        </p:blipFill>
        <p:spPr>
          <a:xfrm>
            <a:off x="10499115" y="3474720"/>
            <a:ext cx="490171" cy="777240"/>
          </a:xfrm>
          <a:prstGeom prst="rect">
            <a:avLst/>
          </a:prstGeom>
        </p:spPr>
      </p:pic>
      <p:sp>
        <p:nvSpPr>
          <p:cNvPr id="30" name="excited text"/>
          <p:cNvSpPr txBox="1"/>
          <p:nvPr/>
        </p:nvSpPr>
        <p:spPr>
          <a:xfrm>
            <a:off x="9948672" y="4389120"/>
            <a:ext cx="1591056" cy="1005840"/>
          </a:xfrm>
          <a:prstGeom prst="rect">
            <a:avLst/>
          </a:prstGeom>
          <a:noFill/>
          <a:ln/>
        </p:spPr>
        <p:txBody>
          <a:bodyPr wrap="square" lIns="0" tIns="0" rIns="0" bIns="0" rtlCol="0" anchor="t"/>
          <a:lstStyle/>
          <a:p>
            <a:pPr marL="0" indent="0" algn="ctr">
              <a:buNone/>
            </a:pPr>
            <a:r>
              <a:rPr lang="en-US" sz="1500" b="1" dirty="0">
                <a:solidFill>
                  <a:schemeClr val="tx1"/>
                </a:solidFill>
              </a:rPr>
              <a:t>I sensed her! Yay! But I keep exploring.</a:t>
            </a:r>
            <a:endParaRPr lang="en-US" sz="1500" dirty="0"/>
          </a:p>
        </p:txBody>
      </p:sp>
      <p:sp>
        <p:nvSpPr>
          <p:cNvPr id="31"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Time to rescue!</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sp>
        <p:nvSpPr>
          <p:cNvPr id="5" name="part label"/>
          <p:cNvSpPr txBox="1"/>
          <p:nvPr/>
        </p:nvSpPr>
        <p:spPr>
          <a:xfrm>
            <a:off x="548640" y="1261872"/>
            <a:ext cx="5486400" cy="411480"/>
          </a:xfrm>
          <a:prstGeom prst="rect">
            <a:avLst/>
          </a:prstGeom>
          <a:noFill/>
          <a:ln/>
        </p:spPr>
        <p:txBody>
          <a:bodyPr wrap="square" lIns="0" tIns="0" rIns="0" bIns="0" rtlCol="0" anchor="t"/>
          <a:lstStyle/>
          <a:p>
            <a:pPr marL="0" indent="0">
              <a:buNone/>
            </a:pPr>
            <a:r>
              <a:rPr lang="en-US" sz="2000" b="1" dirty="0">
                <a:solidFill>
                  <a:schemeClr val="accent2"/>
                </a:solidFill>
              </a:rPr>
              <a:t>PART 2 · After exploring</a:t>
            </a:r>
            <a:endParaRPr lang="en-US" sz="2000" dirty="0"/>
          </a:p>
        </p:txBody>
      </p:sp>
      <p:sp>
        <p:nvSpPr>
          <p:cNvPr id="6" name="Go home card"/>
          <p:cNvSpPr/>
          <p:nvPr/>
        </p:nvSpPr>
        <p:spPr>
          <a:xfrm>
            <a:off x="548640" y="1783080"/>
            <a:ext cx="2697480" cy="3703320"/>
          </a:xfrm>
          <a:prstGeom prst="roundRect">
            <a:avLst>
              <a:gd name="adj" fmla="val 7458"/>
            </a:avLst>
          </a:prstGeom>
          <a:solidFill>
            <a:schemeClr val="accent6">
              <a:alpha val="18000"/>
            </a:schemeClr>
          </a:solidFill>
          <a:ln/>
        </p:spPr>
        <p:txBody>
          <a:bodyPr/>
          <a:lstStyle/>
          <a:p>
            <a:endParaRPr lang="en-SA"/>
          </a:p>
        </p:txBody>
      </p:sp>
      <p:sp>
        <p:nvSpPr>
          <p:cNvPr id="7" name="badge circle 4"/>
          <p:cNvSpPr/>
          <p:nvPr/>
        </p:nvSpPr>
        <p:spPr>
          <a:xfrm>
            <a:off x="731520" y="1965960"/>
            <a:ext cx="548640" cy="548640"/>
          </a:xfrm>
          <a:prstGeom prst="ellipse">
            <a:avLst/>
          </a:prstGeom>
          <a:solidFill>
            <a:schemeClr val="accent6"/>
          </a:solidFill>
          <a:ln/>
        </p:spPr>
        <p:txBody>
          <a:bodyPr/>
          <a:lstStyle/>
          <a:p>
            <a:endParaRPr lang="en-SA"/>
          </a:p>
        </p:txBody>
      </p:sp>
      <p:sp>
        <p:nvSpPr>
          <p:cNvPr id="8" name="badge 4"/>
          <p:cNvSpPr txBox="1"/>
          <p:nvPr/>
        </p:nvSpPr>
        <p:spPr>
          <a:xfrm>
            <a:off x="731520"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pic>
        <p:nvPicPr>
          <p:cNvPr id="9" name="doodlebot-idle.png" descr="/home/claude/lesson/img/doodlebot-idle.png"/>
          <p:cNvPicPr>
            <a:picLocks noChangeAspect="1"/>
          </p:cNvPicPr>
          <p:nvPr/>
        </p:nvPicPr>
        <p:blipFill>
          <a:blip r:embed="rId3"/>
          <a:stretch>
            <a:fillRect/>
          </a:stretch>
        </p:blipFill>
        <p:spPr>
          <a:xfrm>
            <a:off x="1353026" y="2057400"/>
            <a:ext cx="1088708" cy="1691640"/>
          </a:xfrm>
          <a:prstGeom prst="rect">
            <a:avLst/>
          </a:prstGeom>
        </p:spPr>
      </p:pic>
      <p:sp>
        <p:nvSpPr>
          <p:cNvPr id="10" name="Go home heading"/>
          <p:cNvSpPr txBox="1"/>
          <p:nvPr/>
        </p:nvSpPr>
        <p:spPr>
          <a:xfrm>
            <a:off x="548640" y="3840480"/>
            <a:ext cx="2697480" cy="594360"/>
          </a:xfrm>
          <a:prstGeom prst="rect">
            <a:avLst/>
          </a:prstGeom>
          <a:noFill/>
          <a:ln/>
        </p:spPr>
        <p:txBody>
          <a:bodyPr wrap="square" lIns="0" tIns="0" rIns="0" bIns="0" rtlCol="0" anchor="t"/>
          <a:lstStyle/>
          <a:p>
            <a:pPr marL="0" indent="0" algn="ctr">
              <a:buNone/>
            </a:pPr>
            <a:r>
              <a:rPr lang="en-US" sz="3200" b="1" dirty="0">
                <a:solidFill>
                  <a:schemeClr val="tx1"/>
                </a:solidFill>
                <a:latin typeface="Century Schoolbook" pitchFamily="34" charset="0"/>
                <a:ea typeface="Century Schoolbook" pitchFamily="34" charset="-122"/>
                <a:cs typeface="Century Schoolbook" pitchFamily="34" charset="-120"/>
              </a:rPr>
              <a:t>Go home</a:t>
            </a:r>
            <a:endParaRPr lang="en-US" sz="3200" dirty="0"/>
          </a:p>
        </p:txBody>
      </p:sp>
      <p:sp>
        <p:nvSpPr>
          <p:cNvPr id="11" name="Go home text"/>
          <p:cNvSpPr txBox="1"/>
          <p:nvPr/>
        </p:nvSpPr>
        <p:spPr>
          <a:xfrm>
            <a:off x="731520" y="4480560"/>
            <a:ext cx="2331720" cy="914400"/>
          </a:xfrm>
          <a:prstGeom prst="rect">
            <a:avLst/>
          </a:prstGeom>
          <a:noFill/>
          <a:ln/>
        </p:spPr>
        <p:txBody>
          <a:bodyPr wrap="square" lIns="0" tIns="0" rIns="0" bIns="0" rtlCol="0" anchor="t"/>
          <a:lstStyle/>
          <a:p>
            <a:pPr marL="0" indent="0" algn="ctr">
              <a:buNone/>
            </a:pPr>
            <a:r>
              <a:rPr lang="en-US" sz="1900" dirty="0">
                <a:solidFill>
                  <a:schemeClr val="tx2"/>
                </a:solidFill>
              </a:rPr>
              <a:t>Go back to the start.</a:t>
            </a:r>
            <a:endParaRPr lang="en-US" sz="1900" dirty="0"/>
          </a:p>
        </p:txBody>
      </p:sp>
      <p:sp>
        <p:nvSpPr>
          <p:cNvPr id="12" name="arrow 0"/>
          <p:cNvSpPr txBox="1"/>
          <p:nvPr/>
        </p:nvSpPr>
        <p:spPr>
          <a:xfrm>
            <a:off x="3246120" y="2560320"/>
            <a:ext cx="384048" cy="54864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13" name="Plan card"/>
          <p:cNvSpPr/>
          <p:nvPr/>
        </p:nvSpPr>
        <p:spPr>
          <a:xfrm>
            <a:off x="3630168" y="1783080"/>
            <a:ext cx="2697480" cy="3703320"/>
          </a:xfrm>
          <a:prstGeom prst="roundRect">
            <a:avLst>
              <a:gd name="adj" fmla="val 7458"/>
            </a:avLst>
          </a:prstGeom>
          <a:solidFill>
            <a:schemeClr val="accent5">
              <a:alpha val="18000"/>
            </a:schemeClr>
          </a:solidFill>
          <a:ln/>
        </p:spPr>
        <p:txBody>
          <a:bodyPr/>
          <a:lstStyle/>
          <a:p>
            <a:endParaRPr lang="en-SA"/>
          </a:p>
        </p:txBody>
      </p:sp>
      <p:sp>
        <p:nvSpPr>
          <p:cNvPr id="14" name="badge circle 5"/>
          <p:cNvSpPr/>
          <p:nvPr/>
        </p:nvSpPr>
        <p:spPr>
          <a:xfrm>
            <a:off x="3813048" y="1965960"/>
            <a:ext cx="548640" cy="548640"/>
          </a:xfrm>
          <a:prstGeom prst="ellipse">
            <a:avLst/>
          </a:prstGeom>
          <a:solidFill>
            <a:schemeClr val="accent5"/>
          </a:solidFill>
          <a:ln/>
        </p:spPr>
        <p:txBody>
          <a:bodyPr/>
          <a:lstStyle/>
          <a:p>
            <a:endParaRPr lang="en-SA"/>
          </a:p>
        </p:txBody>
      </p:sp>
      <p:sp>
        <p:nvSpPr>
          <p:cNvPr id="15" name="badge 5"/>
          <p:cNvSpPr txBox="1"/>
          <p:nvPr/>
        </p:nvSpPr>
        <p:spPr>
          <a:xfrm>
            <a:off x="3813048"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pic>
        <p:nvPicPr>
          <p:cNvPr id="16" name="doodlebot-thinking.png" descr="/home/claude/lesson/img/doodlebot-thinking.png"/>
          <p:cNvPicPr>
            <a:picLocks noChangeAspect="1"/>
          </p:cNvPicPr>
          <p:nvPr/>
        </p:nvPicPr>
        <p:blipFill>
          <a:blip r:embed="rId4"/>
          <a:stretch>
            <a:fillRect/>
          </a:stretch>
        </p:blipFill>
        <p:spPr>
          <a:xfrm>
            <a:off x="4435064" y="2057400"/>
            <a:ext cx="1087687" cy="1691640"/>
          </a:xfrm>
          <a:prstGeom prst="rect">
            <a:avLst/>
          </a:prstGeom>
        </p:spPr>
      </p:pic>
      <p:sp>
        <p:nvSpPr>
          <p:cNvPr id="17" name="Plan heading"/>
          <p:cNvSpPr txBox="1"/>
          <p:nvPr/>
        </p:nvSpPr>
        <p:spPr>
          <a:xfrm>
            <a:off x="3630168" y="3840480"/>
            <a:ext cx="2697480" cy="594360"/>
          </a:xfrm>
          <a:prstGeom prst="rect">
            <a:avLst/>
          </a:prstGeom>
          <a:noFill/>
          <a:ln/>
        </p:spPr>
        <p:txBody>
          <a:bodyPr wrap="square" lIns="0" tIns="0" rIns="0" bIns="0" rtlCol="0" anchor="t"/>
          <a:lstStyle/>
          <a:p>
            <a:pPr marL="0" indent="0" algn="ctr">
              <a:buNone/>
            </a:pPr>
            <a:r>
              <a:rPr lang="en-US" sz="3200" b="1" dirty="0">
                <a:solidFill>
                  <a:schemeClr val="tx1"/>
                </a:solidFill>
                <a:latin typeface="Century Schoolbook" pitchFamily="34" charset="0"/>
                <a:ea typeface="Century Schoolbook" pitchFamily="34" charset="-122"/>
                <a:cs typeface="Century Schoolbook" pitchFamily="34" charset="-120"/>
              </a:rPr>
              <a:t>Plan</a:t>
            </a:r>
            <a:endParaRPr lang="en-US" sz="3200" dirty="0"/>
          </a:p>
        </p:txBody>
      </p:sp>
      <p:sp>
        <p:nvSpPr>
          <p:cNvPr id="18" name="Plan text"/>
          <p:cNvSpPr txBox="1"/>
          <p:nvPr/>
        </p:nvSpPr>
        <p:spPr>
          <a:xfrm>
            <a:off x="3813048" y="4480560"/>
            <a:ext cx="2331720" cy="914400"/>
          </a:xfrm>
          <a:prstGeom prst="rect">
            <a:avLst/>
          </a:prstGeom>
          <a:noFill/>
          <a:ln/>
        </p:spPr>
        <p:txBody>
          <a:bodyPr wrap="square" lIns="0" tIns="0" rIns="0" bIns="0" rtlCol="0" anchor="t"/>
          <a:lstStyle/>
          <a:p>
            <a:pPr marL="0" indent="0" algn="ctr">
              <a:buNone/>
            </a:pPr>
            <a:r>
              <a:rPr lang="en-US" sz="1900" dirty="0">
                <a:solidFill>
                  <a:schemeClr val="tx2"/>
                </a:solidFill>
              </a:rPr>
              <a:t>Find a shortest path on my map.</a:t>
            </a:r>
            <a:endParaRPr lang="en-US" sz="1900" dirty="0"/>
          </a:p>
        </p:txBody>
      </p:sp>
      <p:sp>
        <p:nvSpPr>
          <p:cNvPr id="19" name="arrow 1"/>
          <p:cNvSpPr txBox="1"/>
          <p:nvPr/>
        </p:nvSpPr>
        <p:spPr>
          <a:xfrm>
            <a:off x="6327648" y="2560320"/>
            <a:ext cx="384048" cy="54864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20" name="Rescue card"/>
          <p:cNvSpPr/>
          <p:nvPr/>
        </p:nvSpPr>
        <p:spPr>
          <a:xfrm>
            <a:off x="6711696" y="1783080"/>
            <a:ext cx="2697480" cy="3703320"/>
          </a:xfrm>
          <a:prstGeom prst="roundRect">
            <a:avLst>
              <a:gd name="adj" fmla="val 7458"/>
            </a:avLst>
          </a:prstGeom>
          <a:solidFill>
            <a:schemeClr val="accent2">
              <a:alpha val="18000"/>
            </a:schemeClr>
          </a:solidFill>
          <a:ln/>
        </p:spPr>
        <p:txBody>
          <a:bodyPr/>
          <a:lstStyle/>
          <a:p>
            <a:endParaRPr lang="en-SA"/>
          </a:p>
        </p:txBody>
      </p:sp>
      <p:sp>
        <p:nvSpPr>
          <p:cNvPr id="21" name="badge circle 6"/>
          <p:cNvSpPr/>
          <p:nvPr/>
        </p:nvSpPr>
        <p:spPr>
          <a:xfrm>
            <a:off x="6894576" y="1965960"/>
            <a:ext cx="548640" cy="548640"/>
          </a:xfrm>
          <a:prstGeom prst="ellipse">
            <a:avLst/>
          </a:prstGeom>
          <a:solidFill>
            <a:schemeClr val="accent2"/>
          </a:solidFill>
          <a:ln/>
        </p:spPr>
        <p:txBody>
          <a:bodyPr/>
          <a:lstStyle/>
          <a:p>
            <a:endParaRPr lang="en-SA"/>
          </a:p>
        </p:txBody>
      </p:sp>
      <p:sp>
        <p:nvSpPr>
          <p:cNvPr id="22" name="badge 6"/>
          <p:cNvSpPr txBox="1"/>
          <p:nvPr/>
        </p:nvSpPr>
        <p:spPr>
          <a:xfrm>
            <a:off x="6894576" y="19659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pic>
        <p:nvPicPr>
          <p:cNvPr id="23" name="doodlebot-happy.png" descr="/home/claude/lesson/img/doodlebot-happy.png"/>
          <p:cNvPicPr>
            <a:picLocks noChangeAspect="1"/>
          </p:cNvPicPr>
          <p:nvPr/>
        </p:nvPicPr>
        <p:blipFill>
          <a:blip r:embed="rId5"/>
          <a:stretch>
            <a:fillRect/>
          </a:stretch>
        </p:blipFill>
        <p:spPr>
          <a:xfrm>
            <a:off x="7461504" y="2148840"/>
            <a:ext cx="1025379" cy="1554480"/>
          </a:xfrm>
          <a:prstGeom prst="rect">
            <a:avLst/>
          </a:prstGeom>
        </p:spPr>
      </p:pic>
      <p:pic>
        <p:nvPicPr>
          <p:cNvPr id="24" name="princess-rescued.png" descr="/home/claude/lesson/img/princess-rescued.png"/>
          <p:cNvPicPr>
            <a:picLocks noChangeAspect="1"/>
          </p:cNvPicPr>
          <p:nvPr/>
        </p:nvPicPr>
        <p:blipFill>
          <a:blip r:embed="rId6"/>
          <a:stretch>
            <a:fillRect/>
          </a:stretch>
        </p:blipFill>
        <p:spPr>
          <a:xfrm>
            <a:off x="8622792" y="2560320"/>
            <a:ext cx="663172" cy="1051560"/>
          </a:xfrm>
          <a:prstGeom prst="rect">
            <a:avLst/>
          </a:prstGeom>
        </p:spPr>
      </p:pic>
      <p:sp>
        <p:nvSpPr>
          <p:cNvPr id="25" name="Rescue heading"/>
          <p:cNvSpPr txBox="1"/>
          <p:nvPr/>
        </p:nvSpPr>
        <p:spPr>
          <a:xfrm>
            <a:off x="6711696" y="3840480"/>
            <a:ext cx="2697480" cy="594360"/>
          </a:xfrm>
          <a:prstGeom prst="rect">
            <a:avLst/>
          </a:prstGeom>
          <a:noFill/>
          <a:ln/>
        </p:spPr>
        <p:txBody>
          <a:bodyPr wrap="square" lIns="0" tIns="0" rIns="0" bIns="0" rtlCol="0" anchor="t"/>
          <a:lstStyle/>
          <a:p>
            <a:pPr marL="0" indent="0" algn="ctr">
              <a:buNone/>
            </a:pPr>
            <a:r>
              <a:rPr lang="en-US" sz="3200" b="1" dirty="0">
                <a:solidFill>
                  <a:schemeClr val="tx1"/>
                </a:solidFill>
                <a:latin typeface="Century Schoolbook" pitchFamily="34" charset="0"/>
                <a:ea typeface="Century Schoolbook" pitchFamily="34" charset="-122"/>
                <a:cs typeface="Century Schoolbook" pitchFamily="34" charset="-120"/>
              </a:rPr>
              <a:t>Rescue</a:t>
            </a:r>
            <a:endParaRPr lang="en-US" sz="3200" dirty="0"/>
          </a:p>
        </p:txBody>
      </p:sp>
      <p:sp>
        <p:nvSpPr>
          <p:cNvPr id="26" name="Rescue text"/>
          <p:cNvSpPr txBox="1"/>
          <p:nvPr/>
        </p:nvSpPr>
        <p:spPr>
          <a:xfrm>
            <a:off x="6894576" y="4480560"/>
            <a:ext cx="2331720" cy="914400"/>
          </a:xfrm>
          <a:prstGeom prst="rect">
            <a:avLst/>
          </a:prstGeom>
          <a:noFill/>
          <a:ln/>
        </p:spPr>
        <p:txBody>
          <a:bodyPr wrap="square" lIns="0" tIns="0" rIns="0" bIns="0" rtlCol="0" anchor="t"/>
          <a:lstStyle/>
          <a:p>
            <a:pPr marL="0" indent="0" algn="ctr">
              <a:buNone/>
            </a:pPr>
            <a:r>
              <a:rPr lang="en-US" sz="1900" dirty="0">
                <a:solidFill>
                  <a:schemeClr val="tx2"/>
                </a:solidFill>
              </a:rPr>
              <a:t>Follow the path to Princess-Bot!</a:t>
            </a:r>
            <a:endParaRPr lang="en-US" sz="1900" dirty="0"/>
          </a:p>
        </p:txBody>
      </p:sp>
      <p:sp>
        <p:nvSpPr>
          <p:cNvPr id="27" name="own map note"/>
          <p:cNvSpPr txBox="1"/>
          <p:nvPr/>
        </p:nvSpPr>
        <p:spPr>
          <a:xfrm>
            <a:off x="548640" y="5669280"/>
            <a:ext cx="8869680" cy="457200"/>
          </a:xfrm>
          <a:prstGeom prst="rect">
            <a:avLst/>
          </a:prstGeom>
          <a:noFill/>
          <a:ln/>
        </p:spPr>
        <p:txBody>
          <a:bodyPr wrap="square" lIns="0" tIns="0" rIns="0" bIns="0" rtlCol="0" anchor="t"/>
          <a:lstStyle/>
          <a:p>
            <a:pPr marL="0" indent="0">
              <a:buNone/>
            </a:pPr>
            <a:r>
              <a:rPr lang="en-US" sz="2000" b="1" dirty="0">
                <a:solidFill>
                  <a:schemeClr val="tx2"/>
                </a:solidFill>
              </a:rPr>
              <a:t>Doodlebot plans only with its own finished map, never with the real maze.</a:t>
            </a:r>
            <a:endParaRPr lang="en-US" sz="2000" dirty="0"/>
          </a:p>
        </p:txBody>
      </p:sp>
      <p:sp>
        <p:nvSpPr>
          <p:cNvPr id="28" name="blocked card"/>
          <p:cNvSpPr/>
          <p:nvPr/>
        </p:nvSpPr>
        <p:spPr>
          <a:xfrm>
            <a:off x="9829800" y="1783080"/>
            <a:ext cx="1828800" cy="3703320"/>
          </a:xfrm>
          <a:prstGeom prst="roundRect">
            <a:avLst>
              <a:gd name="adj" fmla="val 11000"/>
            </a:avLst>
          </a:prstGeom>
          <a:solidFill>
            <a:schemeClr val="accent4">
              <a:alpha val="16000"/>
            </a:schemeClr>
          </a:solidFill>
          <a:ln/>
        </p:spPr>
        <p:txBody>
          <a:bodyPr/>
          <a:lstStyle/>
          <a:p>
            <a:endParaRPr lang="en-SA"/>
          </a:p>
        </p:txBody>
      </p:sp>
      <p:pic>
        <p:nvPicPr>
          <p:cNvPr id="29" name="doodlebot-sad.png" descr="/home/claude/lesson/img/doodlebot-sad.png"/>
          <p:cNvPicPr>
            <a:picLocks noChangeAspect="1"/>
          </p:cNvPicPr>
          <p:nvPr/>
        </p:nvPicPr>
        <p:blipFill>
          <a:blip r:embed="rId7"/>
          <a:stretch>
            <a:fillRect/>
          </a:stretch>
        </p:blipFill>
        <p:spPr>
          <a:xfrm>
            <a:off x="10264494" y="2057400"/>
            <a:ext cx="959412" cy="1463040"/>
          </a:xfrm>
          <a:prstGeom prst="rect">
            <a:avLst/>
          </a:prstGeom>
        </p:spPr>
      </p:pic>
      <p:sp>
        <p:nvSpPr>
          <p:cNvPr id="30" name="blocked text"/>
          <p:cNvSpPr txBox="1"/>
          <p:nvPr/>
        </p:nvSpPr>
        <p:spPr>
          <a:xfrm>
            <a:off x="9948672" y="3840480"/>
            <a:ext cx="1591056" cy="1371600"/>
          </a:xfrm>
          <a:prstGeom prst="rect">
            <a:avLst/>
          </a:prstGeom>
          <a:noFill/>
          <a:ln/>
        </p:spPr>
        <p:txBody>
          <a:bodyPr wrap="square" lIns="0" tIns="0" rIns="0" bIns="0" rtlCol="0" anchor="t"/>
          <a:lstStyle/>
          <a:p>
            <a:pPr marL="0" indent="0" algn="ctr">
              <a:buNone/>
            </a:pPr>
            <a:r>
              <a:rPr lang="en-US" sz="1500" b="1" dirty="0">
                <a:solidFill>
                  <a:schemeClr val="tx1"/>
                </a:solidFill>
              </a:rPr>
              <a:t>No path? I ask you to help open one.</a:t>
            </a:r>
            <a:endParaRPr lang="en-US" sz="1500" dirty="0"/>
          </a:p>
        </p:txBody>
      </p:sp>
      <p:sp>
        <p:nvSpPr>
          <p:cNvPr id="31"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Two maps</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sp>
        <p:nvSpPr>
          <p:cNvPr id="5" name="real world screenshot frame"/>
          <p:cNvSpPr/>
          <p:nvPr/>
        </p:nvSpPr>
        <p:spPr>
          <a:xfrm>
            <a:off x="292533" y="1490472"/>
            <a:ext cx="4096587" cy="4105656"/>
          </a:xfrm>
          <a:prstGeom prst="roundRect">
            <a:avLst>
              <a:gd name="adj" fmla="val 4598"/>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6" name="real world screenshot" descr="/home/claude/lesson/img/build.png"/>
          <p:cNvPicPr>
            <a:picLocks noChangeAspect="1"/>
          </p:cNvPicPr>
          <p:nvPr/>
        </p:nvPicPr>
        <p:blipFill>
          <a:blip r:embed="rId3"/>
          <a:srcRect l="8641" t="18372" r="8626" b="8585"/>
          <a:stretch>
            <a:fillRect/>
          </a:stretch>
        </p:blipFill>
        <p:spPr>
          <a:xfrm>
            <a:off x="470462" y="1600200"/>
            <a:ext cx="3726709" cy="3804887"/>
          </a:xfrm>
          <a:prstGeom prst="rect">
            <a:avLst/>
          </a:prstGeom>
        </p:spPr>
      </p:pic>
      <p:sp>
        <p:nvSpPr>
          <p:cNvPr id="7" name="real caption"/>
          <p:cNvSpPr txBox="1"/>
          <p:nvPr/>
        </p:nvSpPr>
        <p:spPr>
          <a:xfrm>
            <a:off x="576072" y="5760226"/>
            <a:ext cx="3634850" cy="411480"/>
          </a:xfrm>
          <a:prstGeom prst="rect">
            <a:avLst/>
          </a:prstGeom>
          <a:noFill/>
          <a:ln/>
        </p:spPr>
        <p:txBody>
          <a:bodyPr wrap="square" lIns="0" tIns="0" rIns="0" bIns="0" rtlCol="0" anchor="t"/>
          <a:lstStyle/>
          <a:p>
            <a:pPr marL="0" indent="0" algn="ctr">
              <a:buNone/>
            </a:pPr>
            <a:r>
              <a:rPr lang="en-US" sz="2000" b="1" dirty="0">
                <a:solidFill>
                  <a:schemeClr val="tx1"/>
                </a:solidFill>
              </a:rPr>
              <a:t>The real world</a:t>
            </a:r>
            <a:endParaRPr lang="en-US" sz="2000" dirty="0"/>
          </a:p>
        </p:txBody>
      </p:sp>
      <p:sp>
        <p:nvSpPr>
          <p:cNvPr id="8" name="robot map screenshot frame"/>
          <p:cNvSpPr/>
          <p:nvPr/>
        </p:nvSpPr>
        <p:spPr>
          <a:xfrm>
            <a:off x="4553712" y="1490472"/>
            <a:ext cx="4096587" cy="4105656"/>
          </a:xfrm>
          <a:prstGeom prst="roundRect">
            <a:avLst>
              <a:gd name="adj" fmla="val 4018"/>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9" name="robot map screenshot" descr="/home/claude/lesson/img/explore-r1.png"/>
          <p:cNvPicPr>
            <a:picLocks noChangeAspect="1"/>
          </p:cNvPicPr>
          <p:nvPr/>
        </p:nvPicPr>
        <p:blipFill>
          <a:blip r:embed="rId4"/>
          <a:stretch>
            <a:fillRect/>
          </a:stretch>
        </p:blipFill>
        <p:spPr>
          <a:xfrm>
            <a:off x="4663440" y="1600200"/>
            <a:ext cx="3877131" cy="3886200"/>
          </a:xfrm>
          <a:prstGeom prst="rect">
            <a:avLst/>
          </a:prstGeom>
        </p:spPr>
      </p:pic>
      <p:sp>
        <p:nvSpPr>
          <p:cNvPr id="10" name="robot caption"/>
          <p:cNvSpPr txBox="1"/>
          <p:nvPr/>
        </p:nvSpPr>
        <p:spPr>
          <a:xfrm>
            <a:off x="4567465" y="5760226"/>
            <a:ext cx="4069080" cy="411480"/>
          </a:xfrm>
          <a:prstGeom prst="rect">
            <a:avLst/>
          </a:prstGeom>
          <a:noFill/>
          <a:ln/>
        </p:spPr>
        <p:txBody>
          <a:bodyPr wrap="square" lIns="0" tIns="0" rIns="0" bIns="0" rtlCol="0" anchor="t"/>
          <a:lstStyle/>
          <a:p>
            <a:pPr marL="0" indent="0" algn="ctr">
              <a:buNone/>
            </a:pPr>
            <a:r>
              <a:rPr lang="en-US" sz="2000" b="1" dirty="0">
                <a:solidFill>
                  <a:schemeClr val="tx1"/>
                </a:solidFill>
              </a:rPr>
              <a:t>Doodlebot's map</a:t>
            </a:r>
            <a:endParaRPr lang="en-US" sz="2000" dirty="0"/>
          </a:p>
        </p:txBody>
      </p:sp>
      <p:sp>
        <p:nvSpPr>
          <p:cNvPr id="11" name="Black squares swatch"/>
          <p:cNvSpPr/>
          <p:nvPr/>
        </p:nvSpPr>
        <p:spPr>
          <a:xfrm>
            <a:off x="9006840" y="1930126"/>
            <a:ext cx="384048" cy="384048"/>
          </a:xfrm>
          <a:prstGeom prst="ellipse">
            <a:avLst/>
          </a:prstGeom>
          <a:solidFill>
            <a:srgbClr val="10132A"/>
          </a:solidFill>
          <a:ln/>
        </p:spPr>
        <p:txBody>
          <a:bodyPr/>
          <a:lstStyle/>
          <a:p>
            <a:endParaRPr lang="en-SA"/>
          </a:p>
        </p:txBody>
      </p:sp>
      <p:sp>
        <p:nvSpPr>
          <p:cNvPr id="12" name="Black squares heading"/>
          <p:cNvSpPr txBox="1"/>
          <p:nvPr/>
        </p:nvSpPr>
        <p:spPr>
          <a:xfrm>
            <a:off x="9555480" y="1884406"/>
            <a:ext cx="2194560" cy="411480"/>
          </a:xfrm>
          <a:prstGeom prst="rect">
            <a:avLst/>
          </a:prstGeom>
          <a:noFill/>
          <a:ln/>
        </p:spPr>
        <p:txBody>
          <a:bodyPr wrap="square" lIns="0" tIns="0" rIns="0" bIns="0" rtlCol="0" anchor="t"/>
          <a:lstStyle/>
          <a:p>
            <a:pPr marL="0" indent="0">
              <a:buNone/>
            </a:pPr>
            <a:r>
              <a:rPr lang="en-US" sz="1800" b="1" dirty="0">
                <a:solidFill>
                  <a:schemeClr val="tx1"/>
                </a:solidFill>
              </a:rPr>
              <a:t>Black squares</a:t>
            </a:r>
            <a:endParaRPr lang="en-US" sz="1800" dirty="0"/>
          </a:p>
        </p:txBody>
      </p:sp>
      <p:sp>
        <p:nvSpPr>
          <p:cNvPr id="13" name="Black squares text"/>
          <p:cNvSpPr txBox="1"/>
          <p:nvPr/>
        </p:nvSpPr>
        <p:spPr>
          <a:xfrm>
            <a:off x="9555480" y="2295886"/>
            <a:ext cx="2194560" cy="822960"/>
          </a:xfrm>
          <a:prstGeom prst="rect">
            <a:avLst/>
          </a:prstGeom>
          <a:noFill/>
          <a:ln/>
        </p:spPr>
        <p:txBody>
          <a:bodyPr wrap="square" lIns="0" tIns="0" rIns="0" bIns="0" rtlCol="0" anchor="t"/>
          <a:lstStyle/>
          <a:p>
            <a:pPr marL="0" indent="0">
              <a:buNone/>
            </a:pPr>
            <a:r>
              <a:rPr lang="en-US" sz="1400" dirty="0">
                <a:solidFill>
                  <a:schemeClr val="tx2"/>
                </a:solidFill>
              </a:rPr>
              <a:t>Not sensed yet: Doodlebot doesn't know what's there</a:t>
            </a:r>
            <a:endParaRPr lang="en-US" sz="1400" dirty="0"/>
          </a:p>
        </p:txBody>
      </p:sp>
      <p:sp>
        <p:nvSpPr>
          <p:cNvPr id="14" name="Dashed blue circle swatch"/>
          <p:cNvSpPr/>
          <p:nvPr/>
        </p:nvSpPr>
        <p:spPr>
          <a:xfrm>
            <a:off x="9006840" y="3256006"/>
            <a:ext cx="384048" cy="384048"/>
          </a:xfrm>
          <a:prstGeom prst="ellipse">
            <a:avLst/>
          </a:prstGeom>
          <a:solidFill>
            <a:srgbClr val="3478D4"/>
          </a:solidFill>
          <a:ln/>
        </p:spPr>
        <p:txBody>
          <a:bodyPr/>
          <a:lstStyle/>
          <a:p>
            <a:endParaRPr lang="en-SA"/>
          </a:p>
        </p:txBody>
      </p:sp>
      <p:sp>
        <p:nvSpPr>
          <p:cNvPr id="15" name="Dashed blue circle heading"/>
          <p:cNvSpPr txBox="1"/>
          <p:nvPr/>
        </p:nvSpPr>
        <p:spPr>
          <a:xfrm>
            <a:off x="9555480" y="3210286"/>
            <a:ext cx="2194560" cy="411480"/>
          </a:xfrm>
          <a:prstGeom prst="rect">
            <a:avLst/>
          </a:prstGeom>
          <a:noFill/>
          <a:ln/>
        </p:spPr>
        <p:txBody>
          <a:bodyPr wrap="square" lIns="0" tIns="0" rIns="0" bIns="0" rtlCol="0" anchor="t"/>
          <a:lstStyle/>
          <a:p>
            <a:pPr marL="0" indent="0">
              <a:buNone/>
            </a:pPr>
            <a:r>
              <a:rPr lang="en-US" sz="1800" b="1" dirty="0">
                <a:solidFill>
                  <a:schemeClr val="tx1"/>
                </a:solidFill>
              </a:rPr>
              <a:t>Dashed blue circle</a:t>
            </a:r>
            <a:endParaRPr lang="en-US" sz="1800" dirty="0"/>
          </a:p>
        </p:txBody>
      </p:sp>
      <p:sp>
        <p:nvSpPr>
          <p:cNvPr id="16" name="Dashed blue circle text"/>
          <p:cNvSpPr txBox="1"/>
          <p:nvPr/>
        </p:nvSpPr>
        <p:spPr>
          <a:xfrm>
            <a:off x="9555480" y="3621766"/>
            <a:ext cx="2194560" cy="822960"/>
          </a:xfrm>
          <a:prstGeom prst="rect">
            <a:avLst/>
          </a:prstGeom>
          <a:noFill/>
          <a:ln/>
        </p:spPr>
        <p:txBody>
          <a:bodyPr wrap="square" lIns="0" tIns="0" rIns="0" bIns="0" rtlCol="0" anchor="t"/>
          <a:lstStyle/>
          <a:p>
            <a:pPr marL="0" indent="0">
              <a:buNone/>
            </a:pPr>
            <a:r>
              <a:rPr lang="en-US" sz="1400" dirty="0">
                <a:solidFill>
                  <a:schemeClr val="tx2"/>
                </a:solidFill>
              </a:rPr>
              <a:t>The sensor: everything inside it gets added to the map</a:t>
            </a:r>
            <a:endParaRPr lang="en-US" sz="1400" dirty="0"/>
          </a:p>
        </p:txBody>
      </p:sp>
      <p:sp>
        <p:nvSpPr>
          <p:cNvPr id="17" name="Orange ring swatch"/>
          <p:cNvSpPr/>
          <p:nvPr/>
        </p:nvSpPr>
        <p:spPr>
          <a:xfrm>
            <a:off x="9006840" y="4581886"/>
            <a:ext cx="384048" cy="384048"/>
          </a:xfrm>
          <a:prstGeom prst="ellipse">
            <a:avLst/>
          </a:prstGeom>
          <a:solidFill>
            <a:srgbClr val="F2A31B"/>
          </a:solidFill>
          <a:ln/>
        </p:spPr>
        <p:txBody>
          <a:bodyPr/>
          <a:lstStyle/>
          <a:p>
            <a:endParaRPr lang="en-SA"/>
          </a:p>
        </p:txBody>
      </p:sp>
      <p:sp>
        <p:nvSpPr>
          <p:cNvPr id="18" name="Orange ring heading"/>
          <p:cNvSpPr txBox="1"/>
          <p:nvPr/>
        </p:nvSpPr>
        <p:spPr>
          <a:xfrm>
            <a:off x="9555480" y="4536166"/>
            <a:ext cx="2194560" cy="411480"/>
          </a:xfrm>
          <a:prstGeom prst="rect">
            <a:avLst/>
          </a:prstGeom>
          <a:noFill/>
          <a:ln/>
        </p:spPr>
        <p:txBody>
          <a:bodyPr wrap="square" lIns="0" tIns="0" rIns="0" bIns="0" rtlCol="0" anchor="t"/>
          <a:lstStyle/>
          <a:p>
            <a:pPr marL="0" indent="0">
              <a:buNone/>
            </a:pPr>
            <a:r>
              <a:rPr lang="en-US" sz="1800" b="1" dirty="0">
                <a:solidFill>
                  <a:schemeClr val="tx1"/>
                </a:solidFill>
              </a:rPr>
              <a:t>Orange ring</a:t>
            </a:r>
            <a:endParaRPr lang="en-US" sz="1800" dirty="0"/>
          </a:p>
        </p:txBody>
      </p:sp>
      <p:sp>
        <p:nvSpPr>
          <p:cNvPr id="19" name="Orange ring text"/>
          <p:cNvSpPr txBox="1"/>
          <p:nvPr/>
        </p:nvSpPr>
        <p:spPr>
          <a:xfrm>
            <a:off x="9555480" y="4947646"/>
            <a:ext cx="2194560" cy="822960"/>
          </a:xfrm>
          <a:prstGeom prst="rect">
            <a:avLst/>
          </a:prstGeom>
          <a:noFill/>
          <a:ln/>
        </p:spPr>
        <p:txBody>
          <a:bodyPr wrap="square" lIns="0" tIns="0" rIns="0" bIns="0" rtlCol="0" anchor="t"/>
          <a:lstStyle/>
          <a:p>
            <a:pPr marL="0" indent="0">
              <a:buNone/>
            </a:pPr>
            <a:r>
              <a:rPr lang="en-US" sz="1400" dirty="0">
                <a:solidFill>
                  <a:schemeClr val="tx2"/>
                </a:solidFill>
              </a:rPr>
              <a:t>The nearest unknown place Doodlebot can reach</a:t>
            </a:r>
            <a:endParaRPr lang="en-US" sz="14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Predict before you test!</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sp>
        <p:nvSpPr>
          <p:cNvPr id="5" name="setup"/>
          <p:cNvSpPr txBox="1"/>
          <p:nvPr/>
        </p:nvSpPr>
        <p:spPr>
          <a:xfrm>
            <a:off x="548640" y="1371600"/>
            <a:ext cx="8595360" cy="822960"/>
          </a:xfrm>
          <a:prstGeom prst="rect">
            <a:avLst/>
          </a:prstGeom>
          <a:noFill/>
          <a:ln/>
        </p:spPr>
        <p:txBody>
          <a:bodyPr wrap="square" lIns="0" tIns="0" rIns="0" bIns="0" rtlCol="0" anchor="t"/>
          <a:lstStyle/>
          <a:p>
            <a:pPr marL="0" indent="0">
              <a:buNone/>
            </a:pPr>
            <a:r>
              <a:rPr lang="en-US" sz="2200" dirty="0">
                <a:solidFill>
                  <a:schemeClr val="tx2"/>
                </a:solidFill>
              </a:rPr>
              <a:t>What if Doodlebot's sensor could see much farther, 4 squares instead of 1?</a:t>
            </a:r>
            <a:endParaRPr lang="en-US" sz="2200" dirty="0"/>
          </a:p>
        </p:txBody>
      </p:sp>
      <p:sp>
        <p:nvSpPr>
          <p:cNvPr id="6" name="question A"/>
          <p:cNvSpPr/>
          <p:nvPr/>
        </p:nvSpPr>
        <p:spPr>
          <a:xfrm>
            <a:off x="548640" y="2377440"/>
            <a:ext cx="8412480" cy="1463040"/>
          </a:xfrm>
          <a:prstGeom prst="roundRect">
            <a:avLst>
              <a:gd name="adj" fmla="val 12500"/>
            </a:avLst>
          </a:prstGeom>
          <a:solidFill>
            <a:schemeClr val="accent1">
              <a:alpha val="18000"/>
            </a:schemeClr>
          </a:solidFill>
          <a:ln/>
        </p:spPr>
        <p:txBody>
          <a:bodyPr/>
          <a:lstStyle/>
          <a:p>
            <a:endParaRPr lang="en-SA"/>
          </a:p>
        </p:txBody>
      </p:sp>
      <p:sp>
        <p:nvSpPr>
          <p:cNvPr id="7" name="question A text"/>
          <p:cNvSpPr txBox="1"/>
          <p:nvPr/>
        </p:nvSpPr>
        <p:spPr>
          <a:xfrm>
            <a:off x="868680" y="2560320"/>
            <a:ext cx="7863840" cy="502920"/>
          </a:xfrm>
          <a:prstGeom prst="rect">
            <a:avLst/>
          </a:prstGeom>
          <a:noFill/>
          <a:ln/>
        </p:spPr>
        <p:txBody>
          <a:bodyPr wrap="square" lIns="0" tIns="0" rIns="0" bIns="0" rtlCol="0" anchor="t"/>
          <a:lstStyle/>
          <a:p>
            <a:pPr marL="0" indent="0">
              <a:buNone/>
            </a:pPr>
            <a:r>
              <a:rPr lang="en-US" sz="2400" b="1" dirty="0">
                <a:solidFill>
                  <a:schemeClr val="tx1"/>
                </a:solidFill>
                <a:latin typeface="Century Schoolbook" pitchFamily="34" charset="0"/>
                <a:ea typeface="Century Schoolbook" pitchFamily="34" charset="-122"/>
                <a:cs typeface="Century Schoolbook" pitchFamily="34" charset="-120"/>
              </a:rPr>
              <a:t>A.  Steps to finish mapping will be…</a:t>
            </a:r>
            <a:endParaRPr lang="en-US" sz="2400" dirty="0"/>
          </a:p>
        </p:txBody>
      </p:sp>
      <p:sp>
        <p:nvSpPr>
          <p:cNvPr id="8" name="option A0"/>
          <p:cNvSpPr/>
          <p:nvPr/>
        </p:nvSpPr>
        <p:spPr>
          <a:xfrm>
            <a:off x="868680" y="3154680"/>
            <a:ext cx="2377440" cy="502920"/>
          </a:xfrm>
          <a:prstGeom prst="roundRect">
            <a:avLst>
              <a:gd name="adj" fmla="val 49091"/>
            </a:avLst>
          </a:prstGeom>
          <a:solidFill>
            <a:schemeClr val="bg1"/>
          </a:solidFill>
          <a:ln w="19050">
            <a:solidFill>
              <a:schemeClr val="accent1"/>
            </a:solidFill>
            <a:prstDash val="solid"/>
          </a:ln>
        </p:spPr>
        <p:txBody>
          <a:bodyPr/>
          <a:lstStyle/>
          <a:p>
            <a:endParaRPr lang="en-SA"/>
          </a:p>
        </p:txBody>
      </p:sp>
      <p:sp>
        <p:nvSpPr>
          <p:cNvPr id="9" name="option A0 text"/>
          <p:cNvSpPr txBox="1"/>
          <p:nvPr/>
        </p:nvSpPr>
        <p:spPr>
          <a:xfrm>
            <a:off x="868680" y="3154680"/>
            <a:ext cx="2377440" cy="502920"/>
          </a:xfrm>
          <a:prstGeom prst="rect">
            <a:avLst/>
          </a:prstGeom>
          <a:noFill/>
          <a:ln/>
        </p:spPr>
        <p:txBody>
          <a:bodyPr wrap="square" lIns="0" tIns="0" rIns="0" bIns="0" rtlCol="0" anchor="ctr"/>
          <a:lstStyle/>
          <a:p>
            <a:pPr marL="0" indent="0" algn="ctr">
              <a:buNone/>
            </a:pPr>
            <a:r>
              <a:rPr lang="en-US" sz="1800" b="1" dirty="0">
                <a:solidFill>
                  <a:schemeClr val="tx1"/>
                </a:solidFill>
              </a:rPr>
              <a:t>more</a:t>
            </a:r>
            <a:endParaRPr lang="en-US" sz="1800" dirty="0"/>
          </a:p>
        </p:txBody>
      </p:sp>
      <p:sp>
        <p:nvSpPr>
          <p:cNvPr id="10" name="option A1"/>
          <p:cNvSpPr/>
          <p:nvPr/>
        </p:nvSpPr>
        <p:spPr>
          <a:xfrm>
            <a:off x="3474720" y="3154680"/>
            <a:ext cx="2377440" cy="502920"/>
          </a:xfrm>
          <a:prstGeom prst="roundRect">
            <a:avLst>
              <a:gd name="adj" fmla="val 49091"/>
            </a:avLst>
          </a:prstGeom>
          <a:solidFill>
            <a:schemeClr val="bg1"/>
          </a:solidFill>
          <a:ln w="19050">
            <a:solidFill>
              <a:schemeClr val="accent1"/>
            </a:solidFill>
            <a:prstDash val="solid"/>
          </a:ln>
        </p:spPr>
        <p:txBody>
          <a:bodyPr/>
          <a:lstStyle/>
          <a:p>
            <a:endParaRPr lang="en-SA"/>
          </a:p>
        </p:txBody>
      </p:sp>
      <p:sp>
        <p:nvSpPr>
          <p:cNvPr id="11" name="option A1 text"/>
          <p:cNvSpPr txBox="1"/>
          <p:nvPr/>
        </p:nvSpPr>
        <p:spPr>
          <a:xfrm>
            <a:off x="3474720" y="3154680"/>
            <a:ext cx="2377440" cy="502920"/>
          </a:xfrm>
          <a:prstGeom prst="rect">
            <a:avLst/>
          </a:prstGeom>
          <a:noFill/>
          <a:ln/>
        </p:spPr>
        <p:txBody>
          <a:bodyPr wrap="square" lIns="0" tIns="0" rIns="0" bIns="0" rtlCol="0" anchor="ctr"/>
          <a:lstStyle/>
          <a:p>
            <a:pPr marL="0" indent="0" algn="ctr">
              <a:buNone/>
            </a:pPr>
            <a:r>
              <a:rPr lang="en-US" sz="1800" b="1" dirty="0">
                <a:solidFill>
                  <a:schemeClr val="tx1"/>
                </a:solidFill>
              </a:rPr>
              <a:t>fewer </a:t>
            </a:r>
            <a:endParaRPr lang="en-US" sz="1800" dirty="0"/>
          </a:p>
        </p:txBody>
      </p:sp>
      <p:sp>
        <p:nvSpPr>
          <p:cNvPr id="12" name="option A2"/>
          <p:cNvSpPr/>
          <p:nvPr/>
        </p:nvSpPr>
        <p:spPr>
          <a:xfrm>
            <a:off x="6080760" y="3154680"/>
            <a:ext cx="2377440" cy="502920"/>
          </a:xfrm>
          <a:prstGeom prst="roundRect">
            <a:avLst>
              <a:gd name="adj" fmla="val 49091"/>
            </a:avLst>
          </a:prstGeom>
          <a:solidFill>
            <a:schemeClr val="bg1"/>
          </a:solidFill>
          <a:ln w="19050">
            <a:solidFill>
              <a:schemeClr val="accent1"/>
            </a:solidFill>
            <a:prstDash val="solid"/>
          </a:ln>
        </p:spPr>
        <p:txBody>
          <a:bodyPr/>
          <a:lstStyle/>
          <a:p>
            <a:endParaRPr lang="en-SA"/>
          </a:p>
        </p:txBody>
      </p:sp>
      <p:sp>
        <p:nvSpPr>
          <p:cNvPr id="13" name="option A2 text"/>
          <p:cNvSpPr txBox="1"/>
          <p:nvPr/>
        </p:nvSpPr>
        <p:spPr>
          <a:xfrm>
            <a:off x="6080760" y="3154680"/>
            <a:ext cx="2377440" cy="502920"/>
          </a:xfrm>
          <a:prstGeom prst="rect">
            <a:avLst/>
          </a:prstGeom>
          <a:noFill/>
          <a:ln/>
        </p:spPr>
        <p:txBody>
          <a:bodyPr wrap="square" lIns="0" tIns="0" rIns="0" bIns="0" rtlCol="0" anchor="ctr"/>
          <a:lstStyle/>
          <a:p>
            <a:pPr marL="0" indent="0" algn="ctr">
              <a:buNone/>
            </a:pPr>
            <a:r>
              <a:rPr lang="en-US" sz="1800" b="1" dirty="0">
                <a:solidFill>
                  <a:schemeClr val="tx1"/>
                </a:solidFill>
              </a:rPr>
              <a:t>the same</a:t>
            </a:r>
            <a:endParaRPr lang="en-US" sz="1800" dirty="0"/>
          </a:p>
        </p:txBody>
      </p:sp>
      <p:sp>
        <p:nvSpPr>
          <p:cNvPr id="14" name="question B"/>
          <p:cNvSpPr/>
          <p:nvPr/>
        </p:nvSpPr>
        <p:spPr>
          <a:xfrm>
            <a:off x="548640" y="4114800"/>
            <a:ext cx="8412480" cy="1463040"/>
          </a:xfrm>
          <a:prstGeom prst="roundRect">
            <a:avLst>
              <a:gd name="adj" fmla="val 12500"/>
            </a:avLst>
          </a:prstGeom>
          <a:solidFill>
            <a:schemeClr val="accent5">
              <a:alpha val="18000"/>
            </a:schemeClr>
          </a:solidFill>
          <a:ln/>
        </p:spPr>
        <p:txBody>
          <a:bodyPr/>
          <a:lstStyle/>
          <a:p>
            <a:endParaRPr lang="en-SA"/>
          </a:p>
        </p:txBody>
      </p:sp>
      <p:sp>
        <p:nvSpPr>
          <p:cNvPr id="15" name="question B text"/>
          <p:cNvSpPr txBox="1"/>
          <p:nvPr/>
        </p:nvSpPr>
        <p:spPr>
          <a:xfrm>
            <a:off x="868680" y="4297680"/>
            <a:ext cx="7863840" cy="502920"/>
          </a:xfrm>
          <a:prstGeom prst="rect">
            <a:avLst/>
          </a:prstGeom>
          <a:noFill/>
          <a:ln/>
        </p:spPr>
        <p:txBody>
          <a:bodyPr wrap="square" lIns="0" tIns="0" rIns="0" bIns="0" rtlCol="0" anchor="t"/>
          <a:lstStyle/>
          <a:p>
            <a:pPr marL="0" indent="0">
              <a:buNone/>
            </a:pPr>
            <a:r>
              <a:rPr lang="en-US" sz="2400" b="1" dirty="0">
                <a:solidFill>
                  <a:schemeClr val="tx1"/>
                </a:solidFill>
                <a:latin typeface="Century Schoolbook" pitchFamily="34" charset="0"/>
                <a:ea typeface="Century Schoolbook" pitchFamily="34" charset="-122"/>
                <a:cs typeface="Century Schoolbook" pitchFamily="34" charset="-120"/>
              </a:rPr>
              <a:t>B.  The shortest path to Princess-Bot will be…</a:t>
            </a:r>
            <a:endParaRPr lang="en-US" sz="2400" dirty="0"/>
          </a:p>
        </p:txBody>
      </p:sp>
      <p:sp>
        <p:nvSpPr>
          <p:cNvPr id="16" name="option B0"/>
          <p:cNvSpPr/>
          <p:nvPr/>
        </p:nvSpPr>
        <p:spPr>
          <a:xfrm>
            <a:off x="868680" y="4892040"/>
            <a:ext cx="2377440" cy="502920"/>
          </a:xfrm>
          <a:prstGeom prst="roundRect">
            <a:avLst>
              <a:gd name="adj" fmla="val 49091"/>
            </a:avLst>
          </a:prstGeom>
          <a:solidFill>
            <a:schemeClr val="bg1"/>
          </a:solidFill>
          <a:ln w="19050">
            <a:solidFill>
              <a:schemeClr val="accent5"/>
            </a:solidFill>
            <a:prstDash val="solid"/>
          </a:ln>
        </p:spPr>
        <p:txBody>
          <a:bodyPr/>
          <a:lstStyle/>
          <a:p>
            <a:endParaRPr lang="en-SA"/>
          </a:p>
        </p:txBody>
      </p:sp>
      <p:sp>
        <p:nvSpPr>
          <p:cNvPr id="17" name="option B0 text"/>
          <p:cNvSpPr txBox="1"/>
          <p:nvPr/>
        </p:nvSpPr>
        <p:spPr>
          <a:xfrm>
            <a:off x="868680" y="4892040"/>
            <a:ext cx="2377440" cy="502920"/>
          </a:xfrm>
          <a:prstGeom prst="rect">
            <a:avLst/>
          </a:prstGeom>
          <a:noFill/>
          <a:ln/>
        </p:spPr>
        <p:txBody>
          <a:bodyPr wrap="square" lIns="0" tIns="0" rIns="0" bIns="0" rtlCol="0" anchor="ctr"/>
          <a:lstStyle/>
          <a:p>
            <a:pPr marL="0" indent="0" algn="ctr">
              <a:buNone/>
            </a:pPr>
            <a:r>
              <a:rPr lang="en-US" sz="1800" b="1" dirty="0">
                <a:solidFill>
                  <a:schemeClr val="tx1"/>
                </a:solidFill>
              </a:rPr>
              <a:t>more</a:t>
            </a:r>
            <a:endParaRPr lang="en-US" sz="1800" dirty="0"/>
          </a:p>
        </p:txBody>
      </p:sp>
      <p:sp>
        <p:nvSpPr>
          <p:cNvPr id="18" name="option B1"/>
          <p:cNvSpPr/>
          <p:nvPr/>
        </p:nvSpPr>
        <p:spPr>
          <a:xfrm>
            <a:off x="3474720" y="4892040"/>
            <a:ext cx="2377440" cy="502920"/>
          </a:xfrm>
          <a:prstGeom prst="roundRect">
            <a:avLst>
              <a:gd name="adj" fmla="val 49091"/>
            </a:avLst>
          </a:prstGeom>
          <a:solidFill>
            <a:schemeClr val="bg1"/>
          </a:solidFill>
          <a:ln w="19050">
            <a:solidFill>
              <a:schemeClr val="accent5"/>
            </a:solidFill>
            <a:prstDash val="solid"/>
          </a:ln>
        </p:spPr>
        <p:txBody>
          <a:bodyPr/>
          <a:lstStyle/>
          <a:p>
            <a:endParaRPr lang="en-SA"/>
          </a:p>
        </p:txBody>
      </p:sp>
      <p:sp>
        <p:nvSpPr>
          <p:cNvPr id="19" name="option B1 text"/>
          <p:cNvSpPr txBox="1"/>
          <p:nvPr/>
        </p:nvSpPr>
        <p:spPr>
          <a:xfrm>
            <a:off x="3474720" y="4892040"/>
            <a:ext cx="2377440" cy="502920"/>
          </a:xfrm>
          <a:prstGeom prst="rect">
            <a:avLst/>
          </a:prstGeom>
          <a:noFill/>
          <a:ln/>
        </p:spPr>
        <p:txBody>
          <a:bodyPr wrap="square" lIns="0" tIns="0" rIns="0" bIns="0" rtlCol="0" anchor="ctr"/>
          <a:lstStyle/>
          <a:p>
            <a:pPr marL="0" indent="0" algn="ctr">
              <a:buNone/>
            </a:pPr>
            <a:r>
              <a:rPr lang="en-US" sz="1800" b="1" dirty="0">
                <a:solidFill>
                  <a:schemeClr val="tx1"/>
                </a:solidFill>
              </a:rPr>
              <a:t>fewer </a:t>
            </a:r>
            <a:endParaRPr lang="en-US" sz="1800" dirty="0"/>
          </a:p>
        </p:txBody>
      </p:sp>
      <p:sp>
        <p:nvSpPr>
          <p:cNvPr id="20" name="option B2"/>
          <p:cNvSpPr/>
          <p:nvPr/>
        </p:nvSpPr>
        <p:spPr>
          <a:xfrm>
            <a:off x="6080760" y="4892040"/>
            <a:ext cx="2377440" cy="502920"/>
          </a:xfrm>
          <a:prstGeom prst="roundRect">
            <a:avLst>
              <a:gd name="adj" fmla="val 49091"/>
            </a:avLst>
          </a:prstGeom>
          <a:solidFill>
            <a:schemeClr val="bg1"/>
          </a:solidFill>
          <a:ln w="19050">
            <a:solidFill>
              <a:schemeClr val="accent5"/>
            </a:solidFill>
            <a:prstDash val="solid"/>
          </a:ln>
        </p:spPr>
        <p:txBody>
          <a:bodyPr/>
          <a:lstStyle/>
          <a:p>
            <a:endParaRPr lang="en-SA"/>
          </a:p>
        </p:txBody>
      </p:sp>
      <p:sp>
        <p:nvSpPr>
          <p:cNvPr id="21" name="option B2 text"/>
          <p:cNvSpPr txBox="1"/>
          <p:nvPr/>
        </p:nvSpPr>
        <p:spPr>
          <a:xfrm>
            <a:off x="6080760" y="4892040"/>
            <a:ext cx="2377440" cy="502920"/>
          </a:xfrm>
          <a:prstGeom prst="rect">
            <a:avLst/>
          </a:prstGeom>
          <a:noFill/>
          <a:ln/>
        </p:spPr>
        <p:txBody>
          <a:bodyPr wrap="square" lIns="0" tIns="0" rIns="0" bIns="0" rtlCol="0" anchor="ctr"/>
          <a:lstStyle/>
          <a:p>
            <a:pPr marL="0" indent="0" algn="ctr">
              <a:buNone/>
            </a:pPr>
            <a:r>
              <a:rPr lang="en-US" sz="1800" b="1" dirty="0">
                <a:solidFill>
                  <a:schemeClr val="tx1"/>
                </a:solidFill>
              </a:rPr>
              <a:t>the same</a:t>
            </a:r>
            <a:endParaRPr lang="en-US" sz="1800" dirty="0"/>
          </a:p>
        </p:txBody>
      </p:sp>
      <p:pic>
        <p:nvPicPr>
          <p:cNvPr id="22" name="doodlebot-thinking.png" descr="/home/claude/lesson/img/doodlebot-thinking.png"/>
          <p:cNvPicPr>
            <a:picLocks noChangeAspect="1"/>
          </p:cNvPicPr>
          <p:nvPr/>
        </p:nvPicPr>
        <p:blipFill>
          <a:blip r:embed="rId3"/>
          <a:stretch>
            <a:fillRect/>
          </a:stretch>
        </p:blipFill>
        <p:spPr>
          <a:xfrm>
            <a:off x="9464040" y="2377440"/>
            <a:ext cx="1822611" cy="2834640"/>
          </a:xfrm>
          <a:prstGeom prst="rect">
            <a:avLst/>
          </a:prstGeom>
        </p:spPr>
      </p:pic>
      <p:sp>
        <p:nvSpPr>
          <p:cNvPr id="23" name="worksheet hint"/>
          <p:cNvSpPr txBox="1"/>
          <p:nvPr/>
        </p:nvSpPr>
        <p:spPr>
          <a:xfrm>
            <a:off x="9144000" y="5349240"/>
            <a:ext cx="2651760" cy="731520"/>
          </a:xfrm>
          <a:prstGeom prst="rect">
            <a:avLst/>
          </a:prstGeom>
          <a:noFill/>
          <a:ln/>
        </p:spPr>
        <p:txBody>
          <a:bodyPr wrap="square" lIns="0" tIns="0" rIns="0" bIns="0" rtlCol="0" anchor="t"/>
          <a:lstStyle/>
          <a:p>
            <a:pPr marL="0" indent="0" algn="ctr">
              <a:buNone/>
            </a:pPr>
            <a:r>
              <a:rPr lang="en-US" sz="1600" b="1" dirty="0">
                <a:solidFill>
                  <a:schemeClr val="tx1"/>
                </a:solidFill>
              </a:rPr>
              <a:t>Circle your answers on the worksheet</a:t>
            </a:r>
            <a:endParaRPr lang="en-US" sz="1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Robot scientist experiment</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sp>
        <p:nvSpPr>
          <p:cNvPr id="5" name="step circle 1"/>
          <p:cNvSpPr/>
          <p:nvPr/>
        </p:nvSpPr>
        <p:spPr>
          <a:xfrm>
            <a:off x="548640" y="1463040"/>
            <a:ext cx="457200" cy="457200"/>
          </a:xfrm>
          <a:prstGeom prst="ellipse">
            <a:avLst/>
          </a:prstGeom>
          <a:solidFill>
            <a:schemeClr val="accent1"/>
          </a:solidFill>
          <a:ln/>
        </p:spPr>
        <p:txBody>
          <a:bodyPr/>
          <a:lstStyle/>
          <a:p>
            <a:endParaRPr lang="en-SA"/>
          </a:p>
        </p:txBody>
      </p:sp>
      <p:sp>
        <p:nvSpPr>
          <p:cNvPr id="6" name="step number 1"/>
          <p:cNvSpPr txBox="1"/>
          <p:nvPr/>
        </p:nvSpPr>
        <p:spPr>
          <a:xfrm>
            <a:off x="548640" y="14630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step 1"/>
          <p:cNvSpPr txBox="1"/>
          <p:nvPr/>
        </p:nvSpPr>
        <p:spPr>
          <a:xfrm>
            <a:off x="1188720" y="1508760"/>
            <a:ext cx="6035040" cy="411480"/>
          </a:xfrm>
          <a:prstGeom prst="rect">
            <a:avLst/>
          </a:prstGeom>
          <a:noFill/>
          <a:ln/>
        </p:spPr>
        <p:txBody>
          <a:bodyPr wrap="square" lIns="0" tIns="0" rIns="0" bIns="0" rtlCol="0" anchor="t"/>
          <a:lstStyle/>
          <a:p>
            <a:pPr marL="0" indent="0">
              <a:buNone/>
            </a:pPr>
            <a:r>
              <a:rPr lang="en-US" sz="2000" dirty="0">
                <a:solidFill>
                  <a:schemeClr val="tx1"/>
                </a:solidFill>
              </a:rPr>
              <a:t>Build Tools → Ready-made mazes → </a:t>
            </a:r>
            <a:r>
              <a:rPr lang="en-US" sz="2000" b="1" dirty="0">
                <a:solidFill>
                  <a:schemeClr val="tx1"/>
                </a:solidFill>
              </a:rPr>
              <a:t>Lesson</a:t>
            </a:r>
            <a:r>
              <a:rPr lang="en-US" sz="2000" dirty="0">
                <a:solidFill>
                  <a:schemeClr val="tx1"/>
                </a:solidFill>
              </a:rPr>
              <a:t> </a:t>
            </a:r>
            <a:r>
              <a:rPr lang="en-US" sz="2000" b="1" dirty="0">
                <a:solidFill>
                  <a:schemeClr val="tx1"/>
                </a:solidFill>
              </a:rPr>
              <a:t>maze</a:t>
            </a:r>
            <a:endParaRPr lang="en-US" sz="2000" b="1" dirty="0"/>
          </a:p>
        </p:txBody>
      </p:sp>
      <p:sp>
        <p:nvSpPr>
          <p:cNvPr id="8" name="step circle 2"/>
          <p:cNvSpPr/>
          <p:nvPr/>
        </p:nvSpPr>
        <p:spPr>
          <a:xfrm>
            <a:off x="548640" y="2176272"/>
            <a:ext cx="457200" cy="457200"/>
          </a:xfrm>
          <a:prstGeom prst="ellipse">
            <a:avLst/>
          </a:prstGeom>
          <a:solidFill>
            <a:schemeClr val="accent1"/>
          </a:solidFill>
          <a:ln/>
        </p:spPr>
        <p:txBody>
          <a:bodyPr/>
          <a:lstStyle/>
          <a:p>
            <a:endParaRPr lang="en-SA"/>
          </a:p>
        </p:txBody>
      </p:sp>
      <p:sp>
        <p:nvSpPr>
          <p:cNvPr id="9" name="step number 2"/>
          <p:cNvSpPr txBox="1"/>
          <p:nvPr/>
        </p:nvSpPr>
        <p:spPr>
          <a:xfrm>
            <a:off x="548640" y="217627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step 2"/>
          <p:cNvSpPr txBox="1"/>
          <p:nvPr/>
        </p:nvSpPr>
        <p:spPr>
          <a:xfrm>
            <a:off x="1188720" y="2221992"/>
            <a:ext cx="6035040" cy="411480"/>
          </a:xfrm>
          <a:prstGeom prst="rect">
            <a:avLst/>
          </a:prstGeom>
          <a:noFill/>
          <a:ln/>
        </p:spPr>
        <p:txBody>
          <a:bodyPr wrap="square" lIns="0" tIns="0" rIns="0" bIns="0" rtlCol="0" anchor="t"/>
          <a:lstStyle/>
          <a:p>
            <a:pPr marL="0" indent="0">
              <a:buNone/>
            </a:pPr>
            <a:r>
              <a:rPr lang="en-US" sz="2000" dirty="0">
                <a:solidFill>
                  <a:schemeClr val="tx1"/>
                </a:solidFill>
              </a:rPr>
              <a:t>Check the Maze ID says 1X6Y (top right of the maze)</a:t>
            </a:r>
            <a:endParaRPr lang="en-US" sz="2000" dirty="0"/>
          </a:p>
        </p:txBody>
      </p:sp>
      <p:sp>
        <p:nvSpPr>
          <p:cNvPr id="11" name="step circle 3"/>
          <p:cNvSpPr/>
          <p:nvPr/>
        </p:nvSpPr>
        <p:spPr>
          <a:xfrm>
            <a:off x="548640" y="2889504"/>
            <a:ext cx="457200" cy="457200"/>
          </a:xfrm>
          <a:prstGeom prst="ellipse">
            <a:avLst/>
          </a:prstGeom>
          <a:solidFill>
            <a:schemeClr val="accent1"/>
          </a:solidFill>
          <a:ln/>
        </p:spPr>
        <p:txBody>
          <a:bodyPr/>
          <a:lstStyle/>
          <a:p>
            <a:endParaRPr lang="en-SA"/>
          </a:p>
        </p:txBody>
      </p:sp>
      <p:sp>
        <p:nvSpPr>
          <p:cNvPr id="12" name="step number 3"/>
          <p:cNvSpPr txBox="1"/>
          <p:nvPr/>
        </p:nvSpPr>
        <p:spPr>
          <a:xfrm>
            <a:off x="548640" y="2889504"/>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step 3"/>
          <p:cNvSpPr txBox="1"/>
          <p:nvPr/>
        </p:nvSpPr>
        <p:spPr>
          <a:xfrm>
            <a:off x="1188720" y="2935224"/>
            <a:ext cx="6035040" cy="411480"/>
          </a:xfrm>
          <a:prstGeom prst="rect">
            <a:avLst/>
          </a:prstGeom>
          <a:noFill/>
          <a:ln/>
        </p:spPr>
        <p:txBody>
          <a:bodyPr wrap="square" lIns="0" tIns="0" rIns="0" bIns="0" rtlCol="0" anchor="t"/>
          <a:lstStyle/>
          <a:p>
            <a:pPr marL="0" indent="0">
              <a:buNone/>
            </a:pPr>
            <a:r>
              <a:rPr lang="en-US" sz="2000" dirty="0">
                <a:solidFill>
                  <a:schemeClr val="tx1"/>
                </a:solidFill>
              </a:rPr>
              <a:t>Mission Settings → sensor 1 · speed Fast</a:t>
            </a:r>
            <a:endParaRPr lang="en-US" sz="2000" dirty="0"/>
          </a:p>
        </p:txBody>
      </p:sp>
      <p:sp>
        <p:nvSpPr>
          <p:cNvPr id="14" name="step circle 4"/>
          <p:cNvSpPr/>
          <p:nvPr/>
        </p:nvSpPr>
        <p:spPr>
          <a:xfrm>
            <a:off x="548640" y="3602736"/>
            <a:ext cx="457200" cy="457200"/>
          </a:xfrm>
          <a:prstGeom prst="ellipse">
            <a:avLst/>
          </a:prstGeom>
          <a:solidFill>
            <a:schemeClr val="accent1"/>
          </a:solidFill>
          <a:ln/>
        </p:spPr>
        <p:txBody>
          <a:bodyPr/>
          <a:lstStyle/>
          <a:p>
            <a:endParaRPr lang="en-SA"/>
          </a:p>
        </p:txBody>
      </p:sp>
      <p:sp>
        <p:nvSpPr>
          <p:cNvPr id="15" name="step number 4"/>
          <p:cNvSpPr txBox="1"/>
          <p:nvPr/>
        </p:nvSpPr>
        <p:spPr>
          <a:xfrm>
            <a:off x="548640" y="3602736"/>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6" name="step 4"/>
          <p:cNvSpPr txBox="1"/>
          <p:nvPr/>
        </p:nvSpPr>
        <p:spPr>
          <a:xfrm>
            <a:off x="1188720" y="3648456"/>
            <a:ext cx="6035040" cy="411480"/>
          </a:xfrm>
          <a:prstGeom prst="rect">
            <a:avLst/>
          </a:prstGeom>
          <a:noFill/>
          <a:ln/>
        </p:spPr>
        <p:txBody>
          <a:bodyPr wrap="square" lIns="0" tIns="0" rIns="0" bIns="0" rtlCol="0" anchor="t"/>
          <a:lstStyle/>
          <a:p>
            <a:pPr marL="0" indent="0">
              <a:buNone/>
            </a:pPr>
            <a:r>
              <a:rPr lang="en-US" sz="2000" dirty="0">
                <a:solidFill>
                  <a:schemeClr val="tx1"/>
                </a:solidFill>
              </a:rPr>
              <a:t>Press Start Exploring and watch</a:t>
            </a:r>
            <a:endParaRPr lang="en-US" sz="2000" dirty="0"/>
          </a:p>
        </p:txBody>
      </p:sp>
      <p:sp>
        <p:nvSpPr>
          <p:cNvPr id="17" name="step circle 5"/>
          <p:cNvSpPr/>
          <p:nvPr/>
        </p:nvSpPr>
        <p:spPr>
          <a:xfrm>
            <a:off x="548640" y="4315968"/>
            <a:ext cx="457200" cy="457200"/>
          </a:xfrm>
          <a:prstGeom prst="ellipse">
            <a:avLst/>
          </a:prstGeom>
          <a:solidFill>
            <a:schemeClr val="accent1"/>
          </a:solidFill>
          <a:ln/>
        </p:spPr>
        <p:txBody>
          <a:bodyPr/>
          <a:lstStyle/>
          <a:p>
            <a:endParaRPr lang="en-SA"/>
          </a:p>
        </p:txBody>
      </p:sp>
      <p:sp>
        <p:nvSpPr>
          <p:cNvPr id="18" name="step number 5"/>
          <p:cNvSpPr txBox="1"/>
          <p:nvPr/>
        </p:nvSpPr>
        <p:spPr>
          <a:xfrm>
            <a:off x="548640" y="431596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9" name="step 5"/>
          <p:cNvSpPr txBox="1"/>
          <p:nvPr/>
        </p:nvSpPr>
        <p:spPr>
          <a:xfrm>
            <a:off x="1188720" y="4361688"/>
            <a:ext cx="6035040" cy="411480"/>
          </a:xfrm>
          <a:prstGeom prst="rect">
            <a:avLst/>
          </a:prstGeom>
          <a:noFill/>
          <a:ln/>
        </p:spPr>
        <p:txBody>
          <a:bodyPr wrap="square" lIns="0" tIns="0" rIns="0" bIns="0" rtlCol="0" anchor="t"/>
          <a:lstStyle/>
          <a:p>
            <a:pPr marL="0" indent="0">
              <a:buNone/>
            </a:pPr>
            <a:r>
              <a:rPr lang="en-US" sz="2000" dirty="0">
                <a:solidFill>
                  <a:schemeClr val="tx1"/>
                </a:solidFill>
              </a:rPr>
              <a:t>Record steps to finish mapping and path length</a:t>
            </a:r>
            <a:endParaRPr lang="en-US" sz="2000" dirty="0"/>
          </a:p>
        </p:txBody>
      </p:sp>
      <p:sp>
        <p:nvSpPr>
          <p:cNvPr id="20" name="step circle 6"/>
          <p:cNvSpPr/>
          <p:nvPr/>
        </p:nvSpPr>
        <p:spPr>
          <a:xfrm>
            <a:off x="548640" y="5029200"/>
            <a:ext cx="457200" cy="457200"/>
          </a:xfrm>
          <a:prstGeom prst="ellipse">
            <a:avLst/>
          </a:prstGeom>
          <a:solidFill>
            <a:schemeClr val="accent1"/>
          </a:solidFill>
          <a:ln/>
        </p:spPr>
        <p:txBody>
          <a:bodyPr/>
          <a:lstStyle/>
          <a:p>
            <a:endParaRPr lang="en-SA"/>
          </a:p>
        </p:txBody>
      </p:sp>
      <p:sp>
        <p:nvSpPr>
          <p:cNvPr id="21" name="step number 6"/>
          <p:cNvSpPr txBox="1"/>
          <p:nvPr/>
        </p:nvSpPr>
        <p:spPr>
          <a:xfrm>
            <a:off x="548640" y="50292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2" name="step 6"/>
          <p:cNvSpPr txBox="1"/>
          <p:nvPr/>
        </p:nvSpPr>
        <p:spPr>
          <a:xfrm>
            <a:off x="1188720" y="5074920"/>
            <a:ext cx="6035040" cy="411480"/>
          </a:xfrm>
          <a:prstGeom prst="rect">
            <a:avLst/>
          </a:prstGeom>
          <a:noFill/>
          <a:ln/>
        </p:spPr>
        <p:txBody>
          <a:bodyPr wrap="square" lIns="0" tIns="0" rIns="0" bIns="0" rtlCol="0" anchor="t"/>
          <a:lstStyle/>
          <a:p>
            <a:pPr marL="0" indent="0">
              <a:buNone/>
            </a:pPr>
            <a:r>
              <a:rPr lang="en-US" sz="2000" dirty="0">
                <a:solidFill>
                  <a:schemeClr val="tx1"/>
                </a:solidFill>
              </a:rPr>
              <a:t>Change ONLY the sensor to 4, then run again</a:t>
            </a:r>
            <a:endParaRPr lang="en-US" sz="2000" dirty="0"/>
          </a:p>
        </p:txBody>
      </p:sp>
      <p:sp>
        <p:nvSpPr>
          <p:cNvPr id="23" name="fair test card"/>
          <p:cNvSpPr/>
          <p:nvPr/>
        </p:nvSpPr>
        <p:spPr>
          <a:xfrm>
            <a:off x="548640" y="5852160"/>
            <a:ext cx="6675120" cy="548640"/>
          </a:xfrm>
          <a:prstGeom prst="roundRect">
            <a:avLst>
              <a:gd name="adj" fmla="val 33333"/>
            </a:avLst>
          </a:prstGeom>
          <a:solidFill>
            <a:schemeClr val="accent3">
              <a:alpha val="25000"/>
            </a:schemeClr>
          </a:solidFill>
          <a:ln/>
        </p:spPr>
        <p:txBody>
          <a:bodyPr/>
          <a:lstStyle/>
          <a:p>
            <a:endParaRPr lang="en-SA"/>
          </a:p>
        </p:txBody>
      </p:sp>
      <p:sp>
        <p:nvSpPr>
          <p:cNvPr id="24" name="fair test"/>
          <p:cNvSpPr txBox="1"/>
          <p:nvPr/>
        </p:nvSpPr>
        <p:spPr>
          <a:xfrm>
            <a:off x="777240" y="5989320"/>
            <a:ext cx="6400800" cy="411480"/>
          </a:xfrm>
          <a:prstGeom prst="rect">
            <a:avLst/>
          </a:prstGeom>
          <a:noFill/>
          <a:ln/>
        </p:spPr>
        <p:txBody>
          <a:bodyPr wrap="square" lIns="0" tIns="0" rIns="0" bIns="0" rtlCol="0" anchor="t"/>
          <a:lstStyle/>
          <a:p>
            <a:pPr marL="0" indent="0">
              <a:buNone/>
            </a:pPr>
            <a:r>
              <a:rPr lang="en-US" sz="1800" b="1" dirty="0">
                <a:solidFill>
                  <a:schemeClr val="tx1"/>
                </a:solidFill>
              </a:rPr>
              <a:t>Fair test: same maze, change only ONE thing.</a:t>
            </a:r>
            <a:endParaRPr lang="en-US" sz="1800" dirty="0"/>
          </a:p>
        </p:txBody>
      </p:sp>
      <p:sp>
        <p:nvSpPr>
          <p:cNvPr id="25" name="settings screenshot frame"/>
          <p:cNvSpPr/>
          <p:nvPr/>
        </p:nvSpPr>
        <p:spPr>
          <a:xfrm>
            <a:off x="7754112" y="1353312"/>
            <a:ext cx="3063111" cy="4425696"/>
          </a:xfrm>
          <a:prstGeom prst="roundRect">
            <a:avLst>
              <a:gd name="adj" fmla="val 5373"/>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26" name="settings screenshot" descr="/home/claude/lesson/img/settings.png"/>
          <p:cNvPicPr>
            <a:picLocks noChangeAspect="1"/>
          </p:cNvPicPr>
          <p:nvPr/>
        </p:nvPicPr>
        <p:blipFill>
          <a:blip r:embed="rId3"/>
          <a:stretch>
            <a:fillRect/>
          </a:stretch>
        </p:blipFill>
        <p:spPr>
          <a:xfrm>
            <a:off x="7863840" y="1463040"/>
            <a:ext cx="2843655" cy="4206240"/>
          </a:xfrm>
          <a:prstGeom prst="rect">
            <a:avLst/>
          </a:prstGeom>
        </p:spPr>
      </p:pic>
      <p:sp>
        <p:nvSpPr>
          <p:cNvPr id="27"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What did we find?</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graphicFrame>
        <p:nvGraphicFramePr>
          <p:cNvPr id="12" name="tally table"/>
          <p:cNvGraphicFramePr>
            <a:graphicFrameLocks noGrp="1"/>
          </p:cNvGraphicFramePr>
          <p:nvPr>
            <p:extLst>
              <p:ext uri="{D42A27DB-BD31-4B8C-83A1-F6EECF244321}">
                <p14:modId xmlns:p14="http://schemas.microsoft.com/office/powerpoint/2010/main" val="1579011935"/>
              </p:ext>
            </p:extLst>
          </p:nvPr>
        </p:nvGraphicFramePr>
        <p:xfrm>
          <a:off x="548640" y="1554480"/>
          <a:ext cx="7863840" cy="3200400"/>
        </p:xfrm>
        <a:graphic>
          <a:graphicData uri="http://schemas.openxmlformats.org/drawingml/2006/table">
            <a:tbl>
              <a:tblPr/>
              <a:tblGrid>
                <a:gridCol w="3108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731520">
                <a:tc>
                  <a:txBody>
                    <a:bodyPr/>
                    <a:lstStyle/>
                    <a:p>
                      <a:pPr marL="0" indent="0" algn="ctr">
                        <a:buNone/>
                      </a:pP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tc>
                  <a:txBody>
                    <a:bodyPr/>
                    <a:lstStyle/>
                    <a:p>
                      <a:pPr marL="0" indent="0" algn="ctr">
                        <a:buNone/>
                      </a:pPr>
                      <a:r>
                        <a:rPr lang="en-US" sz="2200" b="1" dirty="0">
                          <a:solidFill>
                            <a:schemeClr val="tx1"/>
                          </a:solidFill>
                        </a:rPr>
                        <a:t>Sensor range 1</a:t>
                      </a: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tc>
                  <a:txBody>
                    <a:bodyPr/>
                    <a:lstStyle/>
                    <a:p>
                      <a:pPr marL="0" indent="0" algn="ctr">
                        <a:buNone/>
                      </a:pPr>
                      <a:r>
                        <a:rPr lang="en-US" sz="2200" b="1" dirty="0">
                          <a:solidFill>
                            <a:schemeClr val="tx1"/>
                          </a:solidFill>
                        </a:rPr>
                        <a:t>Sensor range 4</a:t>
                      </a: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234440">
                <a:tc>
                  <a:txBody>
                    <a:bodyPr/>
                    <a:lstStyle/>
                    <a:p>
                      <a:pPr marL="0" indent="0" algn="ctr">
                        <a:buNone/>
                      </a:pPr>
                      <a:r>
                        <a:rPr lang="en-US" sz="2200" b="1" dirty="0">
                          <a:solidFill>
                            <a:schemeClr val="tx1"/>
                          </a:solidFill>
                        </a:rPr>
                        <a:t>Steps to finish mapping</a:t>
                      </a: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tc>
                  <a:txBody>
                    <a:bodyPr/>
                    <a:lstStyle/>
                    <a:p>
                      <a:pPr marL="0" indent="0" algn="ctr">
                        <a:buNone/>
                      </a:pP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tc>
                  <a:txBody>
                    <a:bodyPr/>
                    <a:lstStyle/>
                    <a:p>
                      <a:pPr marL="0" indent="0" algn="ctr">
                        <a:buNone/>
                      </a:pP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34440">
                <a:tc>
                  <a:txBody>
                    <a:bodyPr/>
                    <a:lstStyle/>
                    <a:p>
                      <a:pPr marL="0" indent="0" algn="ctr">
                        <a:buNone/>
                      </a:pPr>
                      <a:r>
                        <a:rPr lang="en-US" sz="2200" b="1" dirty="0">
                          <a:solidFill>
                            <a:schemeClr val="tx1"/>
                          </a:solidFill>
                        </a:rPr>
                        <a:t>Shortest path length</a:t>
                      </a: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tc>
                  <a:txBody>
                    <a:bodyPr/>
                    <a:lstStyle/>
                    <a:p>
                      <a:pPr marL="0" indent="0" algn="ctr">
                        <a:buNone/>
                      </a:pP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tc>
                  <a:txBody>
                    <a:bodyPr/>
                    <a:lstStyle/>
                    <a:p>
                      <a:pPr marL="0" indent="0" algn="ctr">
                        <a:buNone/>
                      </a:pPr>
                      <a:endParaRPr lang="en-US" sz="2200" dirty="0"/>
                    </a:p>
                  </a:txBody>
                  <a:tcPr anchor="ctr">
                    <a:lnL w="12700" cap="flat" cmpd="sng" algn="ctr">
                      <a:solidFill>
                        <a:srgbClr val="DCE8F2"/>
                      </a:solidFill>
                      <a:prstDash val="solid"/>
                      <a:round/>
                      <a:headEnd type="none" w="med" len="med"/>
                      <a:tailEnd type="none" w="med" len="med"/>
                    </a:lnL>
                    <a:lnR w="12700" cap="flat" cmpd="sng" algn="ctr">
                      <a:solidFill>
                        <a:srgbClr val="DCE8F2"/>
                      </a:solidFill>
                      <a:prstDash val="solid"/>
                      <a:round/>
                      <a:headEnd type="none" w="med" len="med"/>
                      <a:tailEnd type="none" w="med" len="med"/>
                    </a:lnR>
                    <a:lnT w="12700" cap="flat" cmpd="sng" algn="ctr">
                      <a:solidFill>
                        <a:srgbClr val="DCE8F2"/>
                      </a:solidFill>
                      <a:prstDash val="solid"/>
                      <a:round/>
                      <a:headEnd type="none" w="med" len="med"/>
                      <a:tailEnd type="none" w="med" len="med"/>
                    </a:lnT>
                    <a:lnB w="12700" cap="flat" cmpd="sng" algn="ctr">
                      <a:solidFill>
                        <a:srgbClr val="DCE8F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 name="tally prompt"/>
          <p:cNvSpPr txBox="1"/>
          <p:nvPr/>
        </p:nvSpPr>
        <p:spPr>
          <a:xfrm>
            <a:off x="635137" y="5138928"/>
            <a:ext cx="7863840" cy="457200"/>
          </a:xfrm>
          <a:prstGeom prst="rect">
            <a:avLst/>
          </a:prstGeom>
          <a:noFill/>
          <a:ln/>
        </p:spPr>
        <p:txBody>
          <a:bodyPr wrap="square" lIns="0" tIns="0" rIns="0" bIns="0" rtlCol="0" anchor="t"/>
          <a:lstStyle/>
          <a:p>
            <a:pPr marL="0" indent="0">
              <a:buNone/>
            </a:pPr>
            <a:r>
              <a:rPr lang="en-US" sz="2000" dirty="0">
                <a:solidFill>
                  <a:schemeClr val="tx2"/>
                </a:solidFill>
              </a:rPr>
              <a:t>Pairs: call out your numbers. Do they match?</a:t>
            </a:r>
            <a:endParaRPr lang="en-US" sz="2000" dirty="0"/>
          </a:p>
        </p:txBody>
      </p:sp>
      <p:pic>
        <p:nvPicPr>
          <p:cNvPr id="7" name="doodlebot-excited.png" descr="/home/claude/lesson/img/doodlebot-excited.png"/>
          <p:cNvPicPr>
            <a:picLocks noChangeAspect="1"/>
          </p:cNvPicPr>
          <p:nvPr/>
        </p:nvPicPr>
        <p:blipFill>
          <a:blip r:embed="rId3"/>
          <a:stretch>
            <a:fillRect/>
          </a:stretch>
        </p:blipFill>
        <p:spPr>
          <a:xfrm>
            <a:off x="9098280" y="1737360"/>
            <a:ext cx="2171391" cy="3017520"/>
          </a:xfrm>
          <a:prstGeom prst="rect">
            <a:avLst/>
          </a:prstGeom>
        </p:spPr>
      </p:pic>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One number changed. One didn't.</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graphicFrame>
        <p:nvGraphicFramePr>
          <p:cNvPr id="5" name="results chart"/>
          <p:cNvGraphicFramePr/>
          <p:nvPr/>
        </p:nvGraphicFramePr>
        <p:xfrm>
          <a:off x="548640" y="1371600"/>
          <a:ext cx="56692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run 1 result card frame"/>
          <p:cNvSpPr/>
          <p:nvPr/>
        </p:nvSpPr>
        <p:spPr>
          <a:xfrm>
            <a:off x="6231986" y="1482069"/>
            <a:ext cx="2701702" cy="2596896"/>
          </a:xfrm>
          <a:prstGeom prst="roundRect">
            <a:avLst>
              <a:gd name="adj" fmla="val 6338"/>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7" name="run 1 result card" descr="/home/claude/lesson/img/result-r1-crop.png"/>
          <p:cNvPicPr>
            <a:picLocks noChangeAspect="1"/>
          </p:cNvPicPr>
          <p:nvPr/>
        </p:nvPicPr>
        <p:blipFill>
          <a:blip r:embed="rId4"/>
          <a:stretch>
            <a:fillRect/>
          </a:stretch>
        </p:blipFill>
        <p:spPr>
          <a:xfrm>
            <a:off x="6327648" y="1591797"/>
            <a:ext cx="2482246" cy="2377440"/>
          </a:xfrm>
          <a:prstGeom prst="rect">
            <a:avLst/>
          </a:prstGeom>
        </p:spPr>
      </p:pic>
      <p:sp>
        <p:nvSpPr>
          <p:cNvPr id="8" name="run 2 result card frame"/>
          <p:cNvSpPr/>
          <p:nvPr/>
        </p:nvSpPr>
        <p:spPr>
          <a:xfrm>
            <a:off x="9125712" y="1490472"/>
            <a:ext cx="2701702" cy="2596896"/>
          </a:xfrm>
          <a:prstGeom prst="roundRect">
            <a:avLst>
              <a:gd name="adj" fmla="val 6338"/>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9" name="run 2 result card" descr="/home/claude/lesson/img/result-r4-crop.png"/>
          <p:cNvPicPr>
            <a:picLocks noChangeAspect="1"/>
          </p:cNvPicPr>
          <p:nvPr/>
        </p:nvPicPr>
        <p:blipFill>
          <a:blip r:embed="rId5"/>
          <a:stretch>
            <a:fillRect/>
          </a:stretch>
        </p:blipFill>
        <p:spPr>
          <a:xfrm>
            <a:off x="9235440" y="1600200"/>
            <a:ext cx="2482246" cy="2377440"/>
          </a:xfrm>
          <a:prstGeom prst="rect">
            <a:avLst/>
          </a:prstGeom>
        </p:spPr>
      </p:pic>
      <p:sp>
        <p:nvSpPr>
          <p:cNvPr id="10" name="run 1 caption"/>
          <p:cNvSpPr txBox="1"/>
          <p:nvPr/>
        </p:nvSpPr>
        <p:spPr>
          <a:xfrm>
            <a:off x="6446520" y="4206240"/>
            <a:ext cx="2560320" cy="365760"/>
          </a:xfrm>
          <a:prstGeom prst="rect">
            <a:avLst/>
          </a:prstGeom>
          <a:noFill/>
          <a:ln/>
        </p:spPr>
        <p:txBody>
          <a:bodyPr wrap="square" lIns="0" tIns="0" rIns="0" bIns="0" rtlCol="0" anchor="t"/>
          <a:lstStyle/>
          <a:p>
            <a:pPr marL="0" indent="0" algn="ctr">
              <a:buNone/>
            </a:pPr>
            <a:r>
              <a:rPr lang="en-US" sz="1500" b="1" dirty="0">
                <a:solidFill>
                  <a:schemeClr val="tx1"/>
                </a:solidFill>
              </a:rPr>
              <a:t>Run 1 · sensor 1</a:t>
            </a:r>
            <a:endParaRPr lang="en-US" sz="1500" dirty="0"/>
          </a:p>
        </p:txBody>
      </p:sp>
      <p:sp>
        <p:nvSpPr>
          <p:cNvPr id="11" name="run 2 caption"/>
          <p:cNvSpPr txBox="1"/>
          <p:nvPr/>
        </p:nvSpPr>
        <p:spPr>
          <a:xfrm>
            <a:off x="9052560" y="4206240"/>
            <a:ext cx="2560320" cy="365760"/>
          </a:xfrm>
          <a:prstGeom prst="rect">
            <a:avLst/>
          </a:prstGeom>
          <a:noFill/>
          <a:ln/>
        </p:spPr>
        <p:txBody>
          <a:bodyPr wrap="square" lIns="0" tIns="0" rIns="0" bIns="0" rtlCol="0" anchor="t"/>
          <a:lstStyle/>
          <a:p>
            <a:pPr marL="0" indent="0" algn="ctr">
              <a:buNone/>
            </a:pPr>
            <a:r>
              <a:rPr lang="en-US" sz="1500" b="1" dirty="0">
                <a:solidFill>
                  <a:schemeClr val="tx1"/>
                </a:solidFill>
              </a:rPr>
              <a:t>Run 2 · sensor 4</a:t>
            </a:r>
            <a:endParaRPr lang="en-US" sz="1500" dirty="0"/>
          </a:p>
        </p:txBody>
      </p:sp>
      <p:sp>
        <p:nvSpPr>
          <p:cNvPr id="12" name="takeaway card"/>
          <p:cNvSpPr/>
          <p:nvPr/>
        </p:nvSpPr>
        <p:spPr>
          <a:xfrm>
            <a:off x="6446520" y="5029200"/>
            <a:ext cx="5212080" cy="1143000"/>
          </a:xfrm>
          <a:prstGeom prst="roundRect">
            <a:avLst>
              <a:gd name="adj" fmla="val 16000"/>
            </a:avLst>
          </a:prstGeom>
          <a:solidFill>
            <a:schemeClr val="accent3">
              <a:alpha val="25000"/>
            </a:schemeClr>
          </a:solidFill>
          <a:ln/>
        </p:spPr>
        <p:txBody>
          <a:bodyPr/>
          <a:lstStyle/>
          <a:p>
            <a:endParaRPr lang="en-SA"/>
          </a:p>
        </p:txBody>
      </p:sp>
      <p:sp>
        <p:nvSpPr>
          <p:cNvPr id="13" name="takeaway"/>
          <p:cNvSpPr txBox="1"/>
          <p:nvPr/>
        </p:nvSpPr>
        <p:spPr>
          <a:xfrm>
            <a:off x="6675120" y="5138928"/>
            <a:ext cx="4800600" cy="960120"/>
          </a:xfrm>
          <a:prstGeom prst="rect">
            <a:avLst/>
          </a:prstGeom>
          <a:noFill/>
          <a:ln/>
        </p:spPr>
        <p:txBody>
          <a:bodyPr wrap="square" lIns="0" tIns="0" rIns="0" bIns="0" rtlCol="0" anchor="ctr"/>
          <a:lstStyle/>
          <a:p>
            <a:pPr marL="0" indent="0">
              <a:buNone/>
            </a:pPr>
            <a:r>
              <a:rPr lang="en-US" sz="1600" b="1" dirty="0">
                <a:solidFill>
                  <a:schemeClr val="tx1"/>
                </a:solidFill>
              </a:rPr>
              <a:t>In this maze, the bigger sensor finished mapping in 49 fewer steps. The shortest path stayed 21.</a:t>
            </a:r>
            <a:endParaRPr lang="en-US" sz="1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The big idea</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1">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Learn &amp; play · 18 min</a:t>
            </a:r>
            <a:endParaRPr lang="en-US" sz="1300" dirty="0"/>
          </a:p>
        </p:txBody>
      </p:sp>
      <p:sp>
        <p:nvSpPr>
          <p:cNvPr id="5" name="range 1 finished map frame"/>
          <p:cNvSpPr/>
          <p:nvPr/>
        </p:nvSpPr>
        <p:spPr>
          <a:xfrm>
            <a:off x="576072" y="1490472"/>
            <a:ext cx="3777294" cy="3785616"/>
          </a:xfrm>
          <a:prstGeom prst="roundRect">
            <a:avLst>
              <a:gd name="adj" fmla="val 4357"/>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6" name="range 1 finished map" descr="/home/claude/lesson/img/done-r1-map.png"/>
          <p:cNvPicPr>
            <a:picLocks noChangeAspect="1"/>
          </p:cNvPicPr>
          <p:nvPr/>
        </p:nvPicPr>
        <p:blipFill>
          <a:blip r:embed="rId3"/>
          <a:stretch>
            <a:fillRect/>
          </a:stretch>
        </p:blipFill>
        <p:spPr>
          <a:xfrm>
            <a:off x="685800" y="1600200"/>
            <a:ext cx="3557838" cy="3566160"/>
          </a:xfrm>
          <a:prstGeom prst="rect">
            <a:avLst/>
          </a:prstGeom>
        </p:spPr>
      </p:pic>
      <p:sp>
        <p:nvSpPr>
          <p:cNvPr id="7" name="range 1 caption"/>
          <p:cNvSpPr txBox="1"/>
          <p:nvPr/>
        </p:nvSpPr>
        <p:spPr>
          <a:xfrm>
            <a:off x="594360" y="5349240"/>
            <a:ext cx="3749040" cy="411480"/>
          </a:xfrm>
          <a:prstGeom prst="rect">
            <a:avLst/>
          </a:prstGeom>
          <a:noFill/>
          <a:ln/>
        </p:spPr>
        <p:txBody>
          <a:bodyPr wrap="square" lIns="0" tIns="0" rIns="0" bIns="0" rtlCol="0" anchor="t"/>
          <a:lstStyle/>
          <a:p>
            <a:pPr marL="0" indent="0" algn="ctr">
              <a:buNone/>
            </a:pPr>
            <a:r>
              <a:rPr lang="en-US" sz="1800" b="1" dirty="0">
                <a:solidFill>
                  <a:schemeClr val="tx1"/>
                </a:solidFill>
              </a:rPr>
              <a:t>Sensor 1: 78 steps to map</a:t>
            </a:r>
            <a:endParaRPr lang="en-US" sz="1800" dirty="0"/>
          </a:p>
        </p:txBody>
      </p:sp>
      <p:sp>
        <p:nvSpPr>
          <p:cNvPr id="8" name="range 4 finished map frame"/>
          <p:cNvSpPr/>
          <p:nvPr/>
        </p:nvSpPr>
        <p:spPr>
          <a:xfrm>
            <a:off x="4507992" y="1490472"/>
            <a:ext cx="3777294" cy="3785616"/>
          </a:xfrm>
          <a:prstGeom prst="roundRect">
            <a:avLst>
              <a:gd name="adj" fmla="val 4357"/>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9" name="range 4 finished map" descr="/home/claude/lesson/img/done-r4-map.png"/>
          <p:cNvPicPr>
            <a:picLocks noChangeAspect="1"/>
          </p:cNvPicPr>
          <p:nvPr/>
        </p:nvPicPr>
        <p:blipFill>
          <a:blip r:embed="rId4"/>
          <a:stretch>
            <a:fillRect/>
          </a:stretch>
        </p:blipFill>
        <p:spPr>
          <a:xfrm>
            <a:off x="4617720" y="1600200"/>
            <a:ext cx="3557838" cy="3566160"/>
          </a:xfrm>
          <a:prstGeom prst="rect">
            <a:avLst/>
          </a:prstGeom>
        </p:spPr>
      </p:pic>
      <p:sp>
        <p:nvSpPr>
          <p:cNvPr id="10" name="range 4 caption"/>
          <p:cNvSpPr txBox="1"/>
          <p:nvPr/>
        </p:nvSpPr>
        <p:spPr>
          <a:xfrm>
            <a:off x="4526280" y="5349240"/>
            <a:ext cx="3749040" cy="411480"/>
          </a:xfrm>
          <a:prstGeom prst="rect">
            <a:avLst/>
          </a:prstGeom>
          <a:noFill/>
          <a:ln/>
        </p:spPr>
        <p:txBody>
          <a:bodyPr wrap="square" lIns="0" tIns="0" rIns="0" bIns="0" rtlCol="0" anchor="t"/>
          <a:lstStyle/>
          <a:p>
            <a:pPr marL="0" indent="0" algn="ctr">
              <a:buNone/>
            </a:pPr>
            <a:r>
              <a:rPr lang="en-US" sz="1800" b="1" dirty="0">
                <a:solidFill>
                  <a:schemeClr val="tx1"/>
                </a:solidFill>
              </a:rPr>
              <a:t>Sensor 4: 29 steps to map</a:t>
            </a:r>
            <a:endParaRPr lang="en-US" sz="1800" dirty="0"/>
          </a:p>
        </p:txBody>
      </p:sp>
      <p:sp>
        <p:nvSpPr>
          <p:cNvPr id="11" name="big idea card"/>
          <p:cNvSpPr/>
          <p:nvPr/>
        </p:nvSpPr>
        <p:spPr>
          <a:xfrm>
            <a:off x="8686800" y="1508760"/>
            <a:ext cx="2971800" cy="2743200"/>
          </a:xfrm>
          <a:prstGeom prst="roundRect">
            <a:avLst>
              <a:gd name="adj" fmla="val 6667"/>
            </a:avLst>
          </a:prstGeom>
          <a:solidFill>
            <a:schemeClr val="accent5">
              <a:alpha val="18000"/>
            </a:schemeClr>
          </a:solidFill>
          <a:ln/>
        </p:spPr>
        <p:txBody>
          <a:bodyPr/>
          <a:lstStyle/>
          <a:p>
            <a:endParaRPr lang="en-SA"/>
          </a:p>
        </p:txBody>
      </p:sp>
      <p:sp>
        <p:nvSpPr>
          <p:cNvPr id="12" name="big idea 1"/>
          <p:cNvSpPr txBox="1"/>
          <p:nvPr/>
        </p:nvSpPr>
        <p:spPr>
          <a:xfrm>
            <a:off x="8915400" y="1737360"/>
            <a:ext cx="2560320" cy="1280160"/>
          </a:xfrm>
          <a:prstGeom prst="rect">
            <a:avLst/>
          </a:prstGeom>
          <a:noFill/>
          <a:ln/>
        </p:spPr>
        <p:txBody>
          <a:bodyPr wrap="square" lIns="0" tIns="0" rIns="0" bIns="0" rtlCol="0" anchor="t"/>
          <a:lstStyle/>
          <a:p>
            <a:pPr marL="0" indent="0">
              <a:buNone/>
            </a:pPr>
            <a:r>
              <a:rPr lang="en-US" sz="2200" b="1" dirty="0">
                <a:solidFill>
                  <a:schemeClr val="tx1"/>
                </a:solidFill>
                <a:latin typeface="Century Schoolbook" pitchFamily="34" charset="0"/>
                <a:ea typeface="Century Schoolbook" pitchFamily="34" charset="-122"/>
                <a:cs typeface="Century Schoolbook" pitchFamily="34" charset="-120"/>
              </a:rPr>
              <a:t>A robot can only plan with what it has sensed.</a:t>
            </a:r>
            <a:endParaRPr lang="en-US" sz="2200" dirty="0"/>
          </a:p>
        </p:txBody>
      </p:sp>
      <p:sp>
        <p:nvSpPr>
          <p:cNvPr id="13" name="big idea 2"/>
          <p:cNvSpPr txBox="1"/>
          <p:nvPr/>
        </p:nvSpPr>
        <p:spPr>
          <a:xfrm>
            <a:off x="8915400" y="3154680"/>
            <a:ext cx="2560320" cy="914400"/>
          </a:xfrm>
          <a:prstGeom prst="rect">
            <a:avLst/>
          </a:prstGeom>
          <a:noFill/>
          <a:ln/>
        </p:spPr>
        <p:txBody>
          <a:bodyPr wrap="square" lIns="0" tIns="0" rIns="0" bIns="0" rtlCol="0" anchor="t"/>
          <a:lstStyle/>
          <a:p>
            <a:pPr marL="0" indent="0">
              <a:buNone/>
            </a:pPr>
            <a:r>
              <a:rPr lang="en-US" sz="1600" dirty="0">
                <a:solidFill>
                  <a:schemeClr val="tx1"/>
                </a:solidFill>
              </a:rPr>
              <a:t>Same finished map, so the same shortest path.</a:t>
            </a:r>
            <a:endParaRPr lang="en-US" sz="1600" dirty="0"/>
          </a:p>
        </p:txBody>
      </p:sp>
      <p:sp>
        <p:nvSpPr>
          <p:cNvPr id="14" name="trail key"/>
          <p:cNvSpPr/>
          <p:nvPr/>
        </p:nvSpPr>
        <p:spPr>
          <a:xfrm>
            <a:off x="8732520" y="4663440"/>
            <a:ext cx="548640" cy="0"/>
          </a:xfrm>
          <a:prstGeom prst="line">
            <a:avLst/>
          </a:prstGeom>
          <a:noFill/>
          <a:ln w="38100">
            <a:solidFill>
              <a:srgbClr val="3478D4"/>
            </a:solidFill>
            <a:prstDash val="dash"/>
          </a:ln>
        </p:spPr>
        <p:txBody>
          <a:bodyPr/>
          <a:lstStyle/>
          <a:p>
            <a:endParaRPr lang="en-SA"/>
          </a:p>
        </p:txBody>
      </p:sp>
      <p:sp>
        <p:nvSpPr>
          <p:cNvPr id="15" name="trail label"/>
          <p:cNvSpPr txBox="1"/>
          <p:nvPr/>
        </p:nvSpPr>
        <p:spPr>
          <a:xfrm>
            <a:off x="9418320" y="4480560"/>
            <a:ext cx="2286000" cy="365760"/>
          </a:xfrm>
          <a:prstGeom prst="rect">
            <a:avLst/>
          </a:prstGeom>
          <a:noFill/>
          <a:ln/>
        </p:spPr>
        <p:txBody>
          <a:bodyPr wrap="square" lIns="0" tIns="0" rIns="0" bIns="0" rtlCol="0" anchor="t"/>
          <a:lstStyle/>
          <a:p>
            <a:pPr marL="0" indent="0">
              <a:buNone/>
            </a:pPr>
            <a:r>
              <a:rPr lang="en-US" sz="1500" b="1" dirty="0">
                <a:solidFill>
                  <a:schemeClr val="tx1"/>
                </a:solidFill>
              </a:rPr>
              <a:t>Dotted blue: exploring trail</a:t>
            </a:r>
            <a:endParaRPr lang="en-US" sz="1500" dirty="0"/>
          </a:p>
        </p:txBody>
      </p:sp>
      <p:sp>
        <p:nvSpPr>
          <p:cNvPr id="16" name="path key"/>
          <p:cNvSpPr/>
          <p:nvPr/>
        </p:nvSpPr>
        <p:spPr>
          <a:xfrm>
            <a:off x="8732520" y="5230368"/>
            <a:ext cx="548640" cy="0"/>
          </a:xfrm>
          <a:prstGeom prst="line">
            <a:avLst/>
          </a:prstGeom>
          <a:noFill/>
          <a:ln w="63500">
            <a:solidFill>
              <a:srgbClr val="2FA37A"/>
            </a:solidFill>
            <a:prstDash val="solid"/>
          </a:ln>
        </p:spPr>
        <p:txBody>
          <a:bodyPr/>
          <a:lstStyle/>
          <a:p>
            <a:endParaRPr lang="en-SA"/>
          </a:p>
        </p:txBody>
      </p:sp>
      <p:sp>
        <p:nvSpPr>
          <p:cNvPr id="17" name="path label"/>
          <p:cNvSpPr txBox="1"/>
          <p:nvPr/>
        </p:nvSpPr>
        <p:spPr>
          <a:xfrm>
            <a:off x="9418320" y="5029200"/>
            <a:ext cx="2286000" cy="640080"/>
          </a:xfrm>
          <a:prstGeom prst="rect">
            <a:avLst/>
          </a:prstGeom>
          <a:noFill/>
          <a:ln/>
        </p:spPr>
        <p:txBody>
          <a:bodyPr wrap="square" lIns="0" tIns="0" rIns="0" bIns="0" rtlCol="0" anchor="t"/>
          <a:lstStyle/>
          <a:p>
            <a:pPr marL="0" indent="0">
              <a:buNone/>
            </a:pPr>
            <a:r>
              <a:rPr lang="en-US" sz="1500" b="1" dirty="0">
                <a:solidFill>
                  <a:schemeClr val="tx1"/>
                </a:solidFill>
              </a:rPr>
              <a:t>Solid green: shortest rescue path</a:t>
            </a:r>
            <a:endParaRPr lang="en-US" sz="15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Reflect</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2">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Wrap-up · 6 min</a:t>
            </a:r>
            <a:endParaRPr lang="en-US" sz="1300" dirty="0"/>
          </a:p>
        </p:txBody>
      </p:sp>
      <p:sp>
        <p:nvSpPr>
          <p:cNvPr id="5" name="reflection 1"/>
          <p:cNvSpPr/>
          <p:nvPr/>
        </p:nvSpPr>
        <p:spPr>
          <a:xfrm>
            <a:off x="548640" y="1463040"/>
            <a:ext cx="8503920" cy="1234440"/>
          </a:xfrm>
          <a:prstGeom prst="roundRect">
            <a:avLst>
              <a:gd name="adj" fmla="val 14815"/>
            </a:avLst>
          </a:prstGeom>
          <a:solidFill>
            <a:schemeClr val="accent1">
              <a:alpha val="18000"/>
            </a:schemeClr>
          </a:solidFill>
          <a:ln/>
        </p:spPr>
        <p:txBody>
          <a:bodyPr/>
          <a:lstStyle/>
          <a:p>
            <a:endParaRPr lang="en-SA"/>
          </a:p>
        </p:txBody>
      </p:sp>
      <p:sp>
        <p:nvSpPr>
          <p:cNvPr id="6" name="reflection circle 1"/>
          <p:cNvSpPr/>
          <p:nvPr/>
        </p:nvSpPr>
        <p:spPr>
          <a:xfrm>
            <a:off x="777240" y="1810512"/>
            <a:ext cx="548640" cy="548640"/>
          </a:xfrm>
          <a:prstGeom prst="ellipse">
            <a:avLst/>
          </a:prstGeom>
          <a:solidFill>
            <a:schemeClr val="accent1"/>
          </a:solidFill>
          <a:ln/>
        </p:spPr>
        <p:txBody>
          <a:bodyPr/>
          <a:lstStyle/>
          <a:p>
            <a:endParaRPr lang="en-SA"/>
          </a:p>
        </p:txBody>
      </p:sp>
      <p:sp>
        <p:nvSpPr>
          <p:cNvPr id="7" name="reflection number 1"/>
          <p:cNvSpPr txBox="1"/>
          <p:nvPr/>
        </p:nvSpPr>
        <p:spPr>
          <a:xfrm>
            <a:off x="777240" y="1810512"/>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reflection text 1"/>
          <p:cNvSpPr txBox="1"/>
          <p:nvPr/>
        </p:nvSpPr>
        <p:spPr>
          <a:xfrm>
            <a:off x="1554480" y="1645920"/>
            <a:ext cx="7269480" cy="914400"/>
          </a:xfrm>
          <a:prstGeom prst="rect">
            <a:avLst/>
          </a:prstGeom>
          <a:noFill/>
          <a:ln/>
        </p:spPr>
        <p:txBody>
          <a:bodyPr wrap="square" lIns="0" tIns="0" rIns="0" bIns="0" rtlCol="0" anchor="ctr"/>
          <a:lstStyle/>
          <a:p>
            <a:pPr marL="0" indent="0">
              <a:buNone/>
            </a:pPr>
            <a:r>
              <a:rPr lang="en-US" sz="2100" b="1" dirty="0">
                <a:solidFill>
                  <a:schemeClr val="tx1"/>
                </a:solidFill>
              </a:rPr>
              <a:t>Which run finished mapping in fewer steps? Why?</a:t>
            </a:r>
            <a:endParaRPr lang="en-US" sz="2100" dirty="0"/>
          </a:p>
        </p:txBody>
      </p:sp>
      <p:sp>
        <p:nvSpPr>
          <p:cNvPr id="9" name="reflection 2"/>
          <p:cNvSpPr/>
          <p:nvPr/>
        </p:nvSpPr>
        <p:spPr>
          <a:xfrm>
            <a:off x="548640" y="2926080"/>
            <a:ext cx="8503920" cy="1234440"/>
          </a:xfrm>
          <a:prstGeom prst="roundRect">
            <a:avLst>
              <a:gd name="adj" fmla="val 14815"/>
            </a:avLst>
          </a:prstGeom>
          <a:solidFill>
            <a:schemeClr val="accent2">
              <a:alpha val="18000"/>
            </a:schemeClr>
          </a:solidFill>
          <a:ln/>
        </p:spPr>
        <p:txBody>
          <a:bodyPr/>
          <a:lstStyle/>
          <a:p>
            <a:endParaRPr lang="en-SA"/>
          </a:p>
        </p:txBody>
      </p:sp>
      <p:sp>
        <p:nvSpPr>
          <p:cNvPr id="10" name="reflection circle 2"/>
          <p:cNvSpPr/>
          <p:nvPr/>
        </p:nvSpPr>
        <p:spPr>
          <a:xfrm>
            <a:off x="777240" y="3273552"/>
            <a:ext cx="548640" cy="548640"/>
          </a:xfrm>
          <a:prstGeom prst="ellipse">
            <a:avLst/>
          </a:prstGeom>
          <a:solidFill>
            <a:schemeClr val="accent2"/>
          </a:solidFill>
          <a:ln/>
        </p:spPr>
        <p:txBody>
          <a:bodyPr/>
          <a:lstStyle/>
          <a:p>
            <a:endParaRPr lang="en-SA"/>
          </a:p>
        </p:txBody>
      </p:sp>
      <p:sp>
        <p:nvSpPr>
          <p:cNvPr id="11" name="reflection number 2"/>
          <p:cNvSpPr txBox="1"/>
          <p:nvPr/>
        </p:nvSpPr>
        <p:spPr>
          <a:xfrm>
            <a:off x="777240" y="3273552"/>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reflection text 2"/>
          <p:cNvSpPr txBox="1"/>
          <p:nvPr/>
        </p:nvSpPr>
        <p:spPr>
          <a:xfrm>
            <a:off x="1554480" y="3108960"/>
            <a:ext cx="7269480" cy="914400"/>
          </a:xfrm>
          <a:prstGeom prst="rect">
            <a:avLst/>
          </a:prstGeom>
          <a:noFill/>
          <a:ln/>
        </p:spPr>
        <p:txBody>
          <a:bodyPr wrap="square" lIns="0" tIns="0" rIns="0" bIns="0" rtlCol="0" anchor="ctr"/>
          <a:lstStyle/>
          <a:p>
            <a:pPr marL="0" indent="0">
              <a:buNone/>
            </a:pPr>
            <a:r>
              <a:rPr lang="en-US" sz="2100" b="1" dirty="0">
                <a:solidFill>
                  <a:schemeClr val="tx1"/>
                </a:solidFill>
              </a:rPr>
              <a:t>Was the shortest path different? Why or why not?</a:t>
            </a:r>
            <a:endParaRPr lang="en-US" sz="2100" dirty="0"/>
          </a:p>
        </p:txBody>
      </p:sp>
      <p:sp>
        <p:nvSpPr>
          <p:cNvPr id="13" name="reflection 3"/>
          <p:cNvSpPr/>
          <p:nvPr/>
        </p:nvSpPr>
        <p:spPr>
          <a:xfrm>
            <a:off x="548640" y="4389120"/>
            <a:ext cx="8503920" cy="1234440"/>
          </a:xfrm>
          <a:prstGeom prst="roundRect">
            <a:avLst>
              <a:gd name="adj" fmla="val 14815"/>
            </a:avLst>
          </a:prstGeom>
          <a:solidFill>
            <a:schemeClr val="accent5">
              <a:alpha val="18000"/>
            </a:schemeClr>
          </a:solidFill>
          <a:ln/>
        </p:spPr>
        <p:txBody>
          <a:bodyPr/>
          <a:lstStyle/>
          <a:p>
            <a:endParaRPr lang="en-SA"/>
          </a:p>
        </p:txBody>
      </p:sp>
      <p:sp>
        <p:nvSpPr>
          <p:cNvPr id="14" name="reflection circle 3"/>
          <p:cNvSpPr/>
          <p:nvPr/>
        </p:nvSpPr>
        <p:spPr>
          <a:xfrm>
            <a:off x="777240" y="4736592"/>
            <a:ext cx="548640" cy="548640"/>
          </a:xfrm>
          <a:prstGeom prst="ellipse">
            <a:avLst/>
          </a:prstGeom>
          <a:solidFill>
            <a:schemeClr val="accent5"/>
          </a:solidFill>
          <a:ln/>
        </p:spPr>
        <p:txBody>
          <a:bodyPr/>
          <a:lstStyle/>
          <a:p>
            <a:endParaRPr lang="en-SA"/>
          </a:p>
        </p:txBody>
      </p:sp>
      <p:sp>
        <p:nvSpPr>
          <p:cNvPr id="15" name="reflection number 3"/>
          <p:cNvSpPr txBox="1"/>
          <p:nvPr/>
        </p:nvSpPr>
        <p:spPr>
          <a:xfrm>
            <a:off x="777240" y="4736592"/>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reflection text 3"/>
          <p:cNvSpPr txBox="1"/>
          <p:nvPr/>
        </p:nvSpPr>
        <p:spPr>
          <a:xfrm>
            <a:off x="1554480" y="4572000"/>
            <a:ext cx="7269480" cy="914400"/>
          </a:xfrm>
          <a:prstGeom prst="rect">
            <a:avLst/>
          </a:prstGeom>
          <a:noFill/>
          <a:ln/>
        </p:spPr>
        <p:txBody>
          <a:bodyPr wrap="square" lIns="0" tIns="0" rIns="0" bIns="0" rtlCol="0" anchor="ctr"/>
          <a:lstStyle/>
          <a:p>
            <a:pPr marL="0" indent="0">
              <a:buNone/>
            </a:pPr>
            <a:r>
              <a:rPr lang="en-US" sz="2100" b="1" dirty="0">
                <a:solidFill>
                  <a:schemeClr val="tx1"/>
                </a:solidFill>
              </a:rPr>
              <a:t>Think of a real robot. What are its "black squares", the things it can't know until it senses them?</a:t>
            </a:r>
            <a:endParaRPr lang="en-US" sz="2100" dirty="0"/>
          </a:p>
        </p:txBody>
      </p:sp>
      <p:pic>
        <p:nvPicPr>
          <p:cNvPr id="17" name="doodlebot-happy.png" descr="/home/claude/lesson/img/doodlebot-happy.png"/>
          <p:cNvPicPr>
            <a:picLocks noChangeAspect="1"/>
          </p:cNvPicPr>
          <p:nvPr/>
        </p:nvPicPr>
        <p:blipFill>
          <a:blip r:embed="rId3"/>
          <a:stretch>
            <a:fillRect/>
          </a:stretch>
        </p:blipFill>
        <p:spPr>
          <a:xfrm>
            <a:off x="9509760" y="1828800"/>
            <a:ext cx="1809493" cy="2743200"/>
          </a:xfrm>
          <a:prstGeom prst="rect">
            <a:avLst/>
          </a:prstGeom>
        </p:spPr>
      </p:pic>
      <p:sp>
        <p:nvSpPr>
          <p:cNvPr id="18" name="write hint"/>
          <p:cNvSpPr txBox="1"/>
          <p:nvPr/>
        </p:nvSpPr>
        <p:spPr>
          <a:xfrm>
            <a:off x="9235440" y="4846320"/>
            <a:ext cx="2560320" cy="457200"/>
          </a:xfrm>
          <a:prstGeom prst="rect">
            <a:avLst/>
          </a:prstGeom>
          <a:noFill/>
          <a:ln/>
        </p:spPr>
        <p:txBody>
          <a:bodyPr wrap="square" lIns="0" tIns="0" rIns="0" bIns="0" rtlCol="0" anchor="t"/>
          <a:lstStyle/>
          <a:p>
            <a:pPr marL="0" indent="0" algn="ctr">
              <a:buNone/>
            </a:pPr>
            <a:r>
              <a:rPr lang="en-US" sz="1600" b="1" dirty="0">
                <a:solidFill>
                  <a:schemeClr val="tx1"/>
                </a:solidFill>
              </a:rPr>
              <a:t>Write on your worksheet</a:t>
            </a:r>
            <a:endParaRPr lang="en-US" sz="1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8595360" cy="822960"/>
          </a:xfrm>
          <a:prstGeom prst="rect">
            <a:avLst/>
          </a:prstGeom>
          <a:noFill/>
          <a:ln/>
        </p:spPr>
        <p:txBody>
          <a:bodyPr wrap="square" lIns="0" tIns="0" rIns="0" bIns="0" rtlCol="0" anchor="ctr"/>
          <a:lstStyle/>
          <a:p>
            <a:pPr marL="0" indent="0">
              <a:buNone/>
            </a:pPr>
            <a:r>
              <a:rPr lang="en-US" sz="3600" b="1" dirty="0">
                <a:solidFill>
                  <a:schemeClr val="tx1"/>
                </a:solidFill>
              </a:rPr>
              <a:t>Robots like Doodlebot are real</a:t>
            </a:r>
            <a:endParaRPr lang="en-US" sz="3600" dirty="0"/>
          </a:p>
        </p:txBody>
      </p:sp>
      <p:sp>
        <p:nvSpPr>
          <p:cNvPr id="3" name="phase pill"/>
          <p:cNvSpPr/>
          <p:nvPr/>
        </p:nvSpPr>
        <p:spPr>
          <a:xfrm>
            <a:off x="9464040" y="475488"/>
            <a:ext cx="2194560" cy="457200"/>
          </a:xfrm>
          <a:prstGeom prst="roundRect">
            <a:avLst>
              <a:gd name="adj" fmla="val 50000"/>
            </a:avLst>
          </a:prstGeom>
          <a:solidFill>
            <a:schemeClr val="accent2">
              <a:alpha val="20000"/>
            </a:schemeClr>
          </a:solidFill>
          <a:ln/>
        </p:spPr>
        <p:txBody>
          <a:bodyPr/>
          <a:lstStyle/>
          <a:p>
            <a:endParaRPr lang="en-SA"/>
          </a:p>
        </p:txBody>
      </p:sp>
      <p:sp>
        <p:nvSpPr>
          <p:cNvPr id="4" name="phase label"/>
          <p:cNvSpPr txBox="1"/>
          <p:nvPr/>
        </p:nvSpPr>
        <p:spPr>
          <a:xfrm>
            <a:off x="9464040" y="475488"/>
            <a:ext cx="2194560" cy="457200"/>
          </a:xfrm>
          <a:prstGeom prst="rect">
            <a:avLst/>
          </a:prstGeom>
          <a:noFill/>
          <a:ln/>
        </p:spPr>
        <p:txBody>
          <a:bodyPr wrap="square" rtlCol="0" anchor="ctr"/>
          <a:lstStyle/>
          <a:p>
            <a:pPr marL="0" indent="0" algn="ctr">
              <a:buNone/>
            </a:pPr>
            <a:r>
              <a:rPr lang="en-US" sz="1300" b="1" dirty="0">
                <a:solidFill>
                  <a:schemeClr val="tx1"/>
                </a:solidFill>
              </a:rPr>
              <a:t>Wrap-up · 6 min</a:t>
            </a:r>
            <a:endParaRPr lang="en-US" sz="1300" dirty="0"/>
          </a:p>
        </p:txBody>
      </p:sp>
      <p:sp>
        <p:nvSpPr>
          <p:cNvPr id="5" name="Robot vacuum card"/>
          <p:cNvSpPr/>
          <p:nvPr/>
        </p:nvSpPr>
        <p:spPr>
          <a:xfrm>
            <a:off x="548640" y="1463040"/>
            <a:ext cx="6766560" cy="1280160"/>
          </a:xfrm>
          <a:prstGeom prst="roundRect">
            <a:avLst>
              <a:gd name="adj" fmla="val 14286"/>
            </a:avLst>
          </a:prstGeom>
          <a:solidFill>
            <a:schemeClr val="accent1">
              <a:alpha val="18000"/>
            </a:schemeClr>
          </a:solidFill>
          <a:ln/>
        </p:spPr>
        <p:txBody>
          <a:bodyPr/>
          <a:lstStyle/>
          <a:p>
            <a:endParaRPr lang="en-SA"/>
          </a:p>
        </p:txBody>
      </p:sp>
      <p:sp>
        <p:nvSpPr>
          <p:cNvPr id="6" name="Robot vacuum icon circle"/>
          <p:cNvSpPr/>
          <p:nvPr/>
        </p:nvSpPr>
        <p:spPr>
          <a:xfrm>
            <a:off x="777240" y="1691640"/>
            <a:ext cx="822960" cy="822960"/>
          </a:xfrm>
          <a:prstGeom prst="ellipse">
            <a:avLst/>
          </a:prstGeom>
          <a:solidFill>
            <a:schemeClr val="bg1"/>
          </a:solidFill>
          <a:ln/>
        </p:spPr>
        <p:txBody>
          <a:bodyPr/>
          <a:lstStyle/>
          <a:p>
            <a:endParaRPr lang="en-SA"/>
          </a:p>
        </p:txBody>
      </p:sp>
      <p:pic>
        <p:nvPicPr>
          <p:cNvPr id="7" name="Robot vacuum icon" descr="preencoded.png"/>
          <p:cNvPicPr>
            <a:picLocks noChangeAspect="1"/>
          </p:cNvPicPr>
          <p:nvPr/>
        </p:nvPicPr>
        <p:blipFill>
          <a:blip r:embed="rId3"/>
          <a:stretch>
            <a:fillRect/>
          </a:stretch>
        </p:blipFill>
        <p:spPr>
          <a:xfrm>
            <a:off x="914400" y="1828800"/>
            <a:ext cx="548640" cy="548640"/>
          </a:xfrm>
          <a:prstGeom prst="rect">
            <a:avLst/>
          </a:prstGeom>
        </p:spPr>
      </p:pic>
      <p:sp>
        <p:nvSpPr>
          <p:cNvPr id="8" name="Robot vacuum heading"/>
          <p:cNvSpPr txBox="1"/>
          <p:nvPr/>
        </p:nvSpPr>
        <p:spPr>
          <a:xfrm>
            <a:off x="1828800" y="1664208"/>
            <a:ext cx="5303520" cy="411480"/>
          </a:xfrm>
          <a:prstGeom prst="rect">
            <a:avLst/>
          </a:prstGeom>
          <a:noFill/>
          <a:ln/>
        </p:spPr>
        <p:txBody>
          <a:bodyPr wrap="square" lIns="0" tIns="0" rIns="0" bIns="0" rtlCol="0" anchor="t"/>
          <a:lstStyle/>
          <a:p>
            <a:pPr marL="0" indent="0">
              <a:buNone/>
            </a:pPr>
            <a:r>
              <a:rPr lang="en-US" sz="2200" b="1" dirty="0">
                <a:solidFill>
                  <a:schemeClr val="tx1"/>
                </a:solidFill>
              </a:rPr>
              <a:t>Robot vacuum</a:t>
            </a:r>
            <a:endParaRPr lang="en-US" sz="2200" dirty="0"/>
          </a:p>
        </p:txBody>
      </p:sp>
      <p:sp>
        <p:nvSpPr>
          <p:cNvPr id="9" name="Robot vacuum text"/>
          <p:cNvSpPr txBox="1"/>
          <p:nvPr/>
        </p:nvSpPr>
        <p:spPr>
          <a:xfrm>
            <a:off x="1828800" y="2103120"/>
            <a:ext cx="5303520" cy="502920"/>
          </a:xfrm>
          <a:prstGeom prst="rect">
            <a:avLst/>
          </a:prstGeom>
          <a:noFill/>
          <a:ln/>
        </p:spPr>
        <p:txBody>
          <a:bodyPr wrap="square" lIns="0" tIns="0" rIns="0" bIns="0" rtlCol="0" anchor="t"/>
          <a:lstStyle/>
          <a:p>
            <a:pPr marL="0" indent="0">
              <a:buNone/>
            </a:pPr>
            <a:r>
              <a:rPr lang="en-US" sz="1600" dirty="0">
                <a:solidFill>
                  <a:schemeClr val="tx2"/>
                </a:solidFill>
              </a:rPr>
              <a:t>Senses walls and furniture as it cleans a new room</a:t>
            </a:r>
            <a:endParaRPr lang="en-US" sz="1600" dirty="0"/>
          </a:p>
        </p:txBody>
      </p:sp>
      <p:sp>
        <p:nvSpPr>
          <p:cNvPr id="10" name="Mars rover card"/>
          <p:cNvSpPr/>
          <p:nvPr/>
        </p:nvSpPr>
        <p:spPr>
          <a:xfrm>
            <a:off x="548640" y="2944368"/>
            <a:ext cx="6766560" cy="1280160"/>
          </a:xfrm>
          <a:prstGeom prst="roundRect">
            <a:avLst>
              <a:gd name="adj" fmla="val 14286"/>
            </a:avLst>
          </a:prstGeom>
          <a:solidFill>
            <a:schemeClr val="accent3">
              <a:alpha val="18000"/>
            </a:schemeClr>
          </a:solidFill>
          <a:ln/>
        </p:spPr>
        <p:txBody>
          <a:bodyPr/>
          <a:lstStyle/>
          <a:p>
            <a:endParaRPr lang="en-SA"/>
          </a:p>
        </p:txBody>
      </p:sp>
      <p:sp>
        <p:nvSpPr>
          <p:cNvPr id="11" name="Mars rover icon circle"/>
          <p:cNvSpPr/>
          <p:nvPr/>
        </p:nvSpPr>
        <p:spPr>
          <a:xfrm>
            <a:off x="777240" y="3172968"/>
            <a:ext cx="822960" cy="822960"/>
          </a:xfrm>
          <a:prstGeom prst="ellipse">
            <a:avLst/>
          </a:prstGeom>
          <a:solidFill>
            <a:schemeClr val="bg1"/>
          </a:solidFill>
          <a:ln/>
        </p:spPr>
        <p:txBody>
          <a:bodyPr/>
          <a:lstStyle/>
          <a:p>
            <a:endParaRPr lang="en-SA"/>
          </a:p>
        </p:txBody>
      </p:sp>
      <p:pic>
        <p:nvPicPr>
          <p:cNvPr id="12" name="Mars rover icon" descr="preencoded.png"/>
          <p:cNvPicPr>
            <a:picLocks noChangeAspect="1"/>
          </p:cNvPicPr>
          <p:nvPr/>
        </p:nvPicPr>
        <p:blipFill>
          <a:blip r:embed="rId4"/>
          <a:stretch>
            <a:fillRect/>
          </a:stretch>
        </p:blipFill>
        <p:spPr>
          <a:xfrm>
            <a:off x="914400" y="3310128"/>
            <a:ext cx="548640" cy="548640"/>
          </a:xfrm>
          <a:prstGeom prst="rect">
            <a:avLst/>
          </a:prstGeom>
        </p:spPr>
      </p:pic>
      <p:sp>
        <p:nvSpPr>
          <p:cNvPr id="13" name="Mars rover heading"/>
          <p:cNvSpPr txBox="1"/>
          <p:nvPr/>
        </p:nvSpPr>
        <p:spPr>
          <a:xfrm>
            <a:off x="1828800" y="3145536"/>
            <a:ext cx="5303520" cy="411480"/>
          </a:xfrm>
          <a:prstGeom prst="rect">
            <a:avLst/>
          </a:prstGeom>
          <a:noFill/>
          <a:ln/>
        </p:spPr>
        <p:txBody>
          <a:bodyPr wrap="square" lIns="0" tIns="0" rIns="0" bIns="0" rtlCol="0" anchor="t"/>
          <a:lstStyle/>
          <a:p>
            <a:pPr marL="0" indent="0">
              <a:buNone/>
            </a:pPr>
            <a:r>
              <a:rPr lang="en-US" sz="2200" b="1" dirty="0">
                <a:solidFill>
                  <a:schemeClr val="tx1"/>
                </a:solidFill>
              </a:rPr>
              <a:t>Mars rover</a:t>
            </a:r>
            <a:endParaRPr lang="en-US" sz="2200" dirty="0"/>
          </a:p>
        </p:txBody>
      </p:sp>
      <p:sp>
        <p:nvSpPr>
          <p:cNvPr id="14" name="Mars rover text"/>
          <p:cNvSpPr txBox="1"/>
          <p:nvPr/>
        </p:nvSpPr>
        <p:spPr>
          <a:xfrm>
            <a:off x="1828800" y="3584448"/>
            <a:ext cx="5303520" cy="502920"/>
          </a:xfrm>
          <a:prstGeom prst="rect">
            <a:avLst/>
          </a:prstGeom>
          <a:noFill/>
          <a:ln/>
        </p:spPr>
        <p:txBody>
          <a:bodyPr wrap="square" lIns="0" tIns="0" rIns="0" bIns="0" rtlCol="0" anchor="t"/>
          <a:lstStyle/>
          <a:p>
            <a:pPr marL="0" indent="0">
              <a:buNone/>
            </a:pPr>
            <a:r>
              <a:rPr lang="en-US" sz="1600" dirty="0">
                <a:solidFill>
                  <a:schemeClr val="tx2"/>
                </a:solidFill>
              </a:rPr>
              <a:t>Maps rocks and craters on a planet no one has mapped</a:t>
            </a:r>
            <a:endParaRPr lang="en-US" sz="1600" dirty="0"/>
          </a:p>
        </p:txBody>
      </p:sp>
      <p:sp>
        <p:nvSpPr>
          <p:cNvPr id="15" name="Delivery robot card"/>
          <p:cNvSpPr/>
          <p:nvPr/>
        </p:nvSpPr>
        <p:spPr>
          <a:xfrm>
            <a:off x="548640" y="4425696"/>
            <a:ext cx="6766560" cy="1280160"/>
          </a:xfrm>
          <a:prstGeom prst="roundRect">
            <a:avLst>
              <a:gd name="adj" fmla="val 14286"/>
            </a:avLst>
          </a:prstGeom>
          <a:solidFill>
            <a:schemeClr val="accent2">
              <a:alpha val="18000"/>
            </a:schemeClr>
          </a:solidFill>
          <a:ln/>
        </p:spPr>
        <p:txBody>
          <a:bodyPr/>
          <a:lstStyle/>
          <a:p>
            <a:endParaRPr lang="en-SA"/>
          </a:p>
        </p:txBody>
      </p:sp>
      <p:sp>
        <p:nvSpPr>
          <p:cNvPr id="16" name="Delivery robot icon circle"/>
          <p:cNvSpPr/>
          <p:nvPr/>
        </p:nvSpPr>
        <p:spPr>
          <a:xfrm>
            <a:off x="777240" y="4654296"/>
            <a:ext cx="822960" cy="822960"/>
          </a:xfrm>
          <a:prstGeom prst="ellipse">
            <a:avLst/>
          </a:prstGeom>
          <a:solidFill>
            <a:schemeClr val="bg1"/>
          </a:solidFill>
          <a:ln/>
        </p:spPr>
        <p:txBody>
          <a:bodyPr/>
          <a:lstStyle/>
          <a:p>
            <a:endParaRPr lang="en-SA"/>
          </a:p>
        </p:txBody>
      </p:sp>
      <p:pic>
        <p:nvPicPr>
          <p:cNvPr id="17" name="Delivery robot icon" descr="preencoded.png"/>
          <p:cNvPicPr>
            <a:picLocks noChangeAspect="1"/>
          </p:cNvPicPr>
          <p:nvPr/>
        </p:nvPicPr>
        <p:blipFill>
          <a:blip r:embed="rId5"/>
          <a:stretch>
            <a:fillRect/>
          </a:stretch>
        </p:blipFill>
        <p:spPr>
          <a:xfrm>
            <a:off x="914400" y="4791456"/>
            <a:ext cx="548640" cy="548640"/>
          </a:xfrm>
          <a:prstGeom prst="rect">
            <a:avLst/>
          </a:prstGeom>
        </p:spPr>
      </p:pic>
      <p:sp>
        <p:nvSpPr>
          <p:cNvPr id="18" name="Delivery robot heading"/>
          <p:cNvSpPr txBox="1"/>
          <p:nvPr/>
        </p:nvSpPr>
        <p:spPr>
          <a:xfrm>
            <a:off x="1828800" y="4626864"/>
            <a:ext cx="5303520" cy="411480"/>
          </a:xfrm>
          <a:prstGeom prst="rect">
            <a:avLst/>
          </a:prstGeom>
          <a:noFill/>
          <a:ln/>
        </p:spPr>
        <p:txBody>
          <a:bodyPr wrap="square" lIns="0" tIns="0" rIns="0" bIns="0" rtlCol="0" anchor="t"/>
          <a:lstStyle/>
          <a:p>
            <a:pPr marL="0" indent="0">
              <a:buNone/>
            </a:pPr>
            <a:r>
              <a:rPr lang="en-US" sz="2200" b="1" dirty="0">
                <a:solidFill>
                  <a:schemeClr val="tx1"/>
                </a:solidFill>
              </a:rPr>
              <a:t>Delivery robot</a:t>
            </a:r>
            <a:endParaRPr lang="en-US" sz="2200" dirty="0"/>
          </a:p>
        </p:txBody>
      </p:sp>
      <p:sp>
        <p:nvSpPr>
          <p:cNvPr id="19" name="Delivery robot text"/>
          <p:cNvSpPr txBox="1"/>
          <p:nvPr/>
        </p:nvSpPr>
        <p:spPr>
          <a:xfrm>
            <a:off x="1828800" y="5065776"/>
            <a:ext cx="5303520" cy="502920"/>
          </a:xfrm>
          <a:prstGeom prst="rect">
            <a:avLst/>
          </a:prstGeom>
          <a:noFill/>
          <a:ln/>
        </p:spPr>
        <p:txBody>
          <a:bodyPr wrap="square" lIns="0" tIns="0" rIns="0" bIns="0" rtlCol="0" anchor="t"/>
          <a:lstStyle/>
          <a:p>
            <a:pPr marL="0" indent="0">
              <a:buNone/>
            </a:pPr>
            <a:r>
              <a:rPr lang="en-US" sz="1600" dirty="0">
                <a:solidFill>
                  <a:schemeClr val="tx2"/>
                </a:solidFill>
              </a:rPr>
              <a:t>Senses people, cars and new obstacles on the way</a:t>
            </a:r>
            <a:endParaRPr lang="en-US" sz="1600" dirty="0"/>
          </a:p>
        </p:txBody>
      </p:sp>
      <p:sp>
        <p:nvSpPr>
          <p:cNvPr id="20" name="chat screenshot frame"/>
          <p:cNvSpPr/>
          <p:nvPr/>
        </p:nvSpPr>
        <p:spPr>
          <a:xfrm>
            <a:off x="8329360" y="1325880"/>
            <a:ext cx="2901696" cy="4242816"/>
          </a:xfrm>
          <a:prstGeom prst="roundRect">
            <a:avLst>
              <a:gd name="adj" fmla="val 5672"/>
            </a:avLst>
          </a:prstGeom>
          <a:solidFill>
            <a:schemeClr val="bg1"/>
          </a:solidFill>
          <a:ln w="12700">
            <a:solidFill>
              <a:srgbClr val="DCE8F2"/>
            </a:solidFill>
            <a:prstDash val="solid"/>
          </a:ln>
          <a:effectLst>
            <a:outerShdw blurRad="101600" dist="25400" dir="5400000" algn="bl" rotWithShape="0">
              <a:srgbClr val="24365B">
                <a:alpha val="12000"/>
              </a:srgbClr>
            </a:outerShdw>
          </a:effectLst>
        </p:spPr>
        <p:txBody>
          <a:bodyPr/>
          <a:lstStyle/>
          <a:p>
            <a:endParaRPr lang="en-SA"/>
          </a:p>
        </p:txBody>
      </p:sp>
      <p:pic>
        <p:nvPicPr>
          <p:cNvPr id="21" name="chat screenshot" descr="/home/claude/lesson/img/chat.png"/>
          <p:cNvPicPr>
            <a:picLocks noChangeAspect="1"/>
          </p:cNvPicPr>
          <p:nvPr/>
        </p:nvPicPr>
        <p:blipFill>
          <a:blip r:embed="rId6"/>
          <a:stretch>
            <a:fillRect/>
          </a:stretch>
        </p:blipFill>
        <p:spPr>
          <a:xfrm>
            <a:off x="8421130" y="1450930"/>
            <a:ext cx="2682240" cy="4023360"/>
          </a:xfrm>
          <a:prstGeom prst="rect">
            <a:avLst/>
          </a:prstGeom>
        </p:spPr>
      </p:pic>
      <p:sp>
        <p:nvSpPr>
          <p:cNvPr id="22" name="ask label"/>
          <p:cNvSpPr txBox="1"/>
          <p:nvPr/>
        </p:nvSpPr>
        <p:spPr>
          <a:xfrm>
            <a:off x="8259256" y="5705856"/>
            <a:ext cx="2971800" cy="457200"/>
          </a:xfrm>
          <a:prstGeom prst="rect">
            <a:avLst/>
          </a:prstGeom>
          <a:noFill/>
          <a:ln/>
        </p:spPr>
        <p:txBody>
          <a:bodyPr wrap="square" lIns="0" tIns="0" rIns="0" bIns="0" rtlCol="0" anchor="t"/>
          <a:lstStyle/>
          <a:p>
            <a:pPr marL="0" indent="0" algn="ctr">
              <a:buNone/>
            </a:pPr>
            <a:r>
              <a:rPr lang="en-US" sz="2200" b="1" dirty="0">
                <a:solidFill>
                  <a:schemeClr val="tx1"/>
                </a:solidFill>
                <a:latin typeface="Century Schoolbook" pitchFamily="34" charset="0"/>
                <a:ea typeface="Century Schoolbook" pitchFamily="34" charset="-122"/>
                <a:cs typeface="Century Schoolbook" pitchFamily="34" charset="-120"/>
              </a:rPr>
              <a:t>Ask Doodlebot!</a:t>
            </a:r>
            <a:endParaRPr lang="en-US" sz="22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Doodlebot Lost Kingdom">
  <a:themeElements>
    <a:clrScheme name="Doodlebot Lost Kingdom">
      <a:dk1>
        <a:srgbClr val="24365B"/>
      </a:dk1>
      <a:lt1>
        <a:srgbClr val="FFFFFF"/>
      </a:lt1>
      <a:dk2>
        <a:srgbClr val="52647D"/>
      </a:dk2>
      <a:lt2>
        <a:srgbClr val="FBF2EA"/>
      </a:lt2>
      <a:accent1>
        <a:srgbClr val="3478D4"/>
      </a:accent1>
      <a:accent2>
        <a:srgbClr val="2FA37A"/>
      </a:accent2>
      <a:accent3>
        <a:srgbClr val="F2A31B"/>
      </a:accent3>
      <a:accent4>
        <a:srgbClr val="F27AB8"/>
      </a:accent4>
      <a:accent5>
        <a:srgbClr val="9B6BE0"/>
      </a:accent5>
      <a:accent6>
        <a:srgbClr val="6EDAD8"/>
      </a:accent6>
      <a:hlink>
        <a:srgbClr val="3478D4"/>
      </a:hlink>
      <a:folHlink>
        <a:srgbClr val="9B6BE0"/>
      </a:folHlink>
    </a:clrScheme>
    <a:fontScheme name="Doodlebot Lost Kingdom">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2110</Words>
  <Application>Microsoft Macintosh PowerPoint</Application>
  <PresentationFormat>Widescreen</PresentationFormat>
  <Paragraphs>194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Century Schoolbook</vt:lpstr>
      <vt:lpstr>Doodlebot Lost Kingdom</vt:lpstr>
      <vt:lpstr>PowerPoint Presentation</vt:lpstr>
      <vt:lpstr>What makes a robot smart?</vt:lpstr>
      <vt:lpstr>Mystery Map · turn 1</vt:lpstr>
      <vt:lpstr>Mystery Map · turn 2</vt:lpstr>
      <vt:lpstr>Mystery Map · turn 3</vt:lpstr>
      <vt:lpstr>Princess-Bot is lost!</vt:lpstr>
      <vt:lpstr>How Doodlebot explores</vt:lpstr>
      <vt:lpstr>Time to rescue!</vt:lpstr>
      <vt:lpstr>Two maps</vt:lpstr>
      <vt:lpstr>Predict before you test!</vt:lpstr>
      <vt:lpstr>Robot scientist experiment</vt:lpstr>
      <vt:lpstr>What did we find?</vt:lpstr>
      <vt:lpstr>One number changed. One didn't.</vt:lpstr>
      <vt:lpstr>The big idea</vt:lpstr>
      <vt:lpstr>Reflect</vt:lpstr>
      <vt:lpstr>Robots like Doodlebot are real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Doodlebot – The Lost Kingdom: How do robots find their way?</dc:title>
  <dc:subject>PptxGenJS Presentation</dc:subject>
  <dc:creator>Tala Alothaim</dc:creator>
  <cp:lastModifiedBy>TALA FAHAD ABDULLAH ALOTHAIM</cp:lastModifiedBy>
  <cp:revision>10</cp:revision>
  <dcterms:created xsi:type="dcterms:W3CDTF">2026-10-24T17:55:39Z</dcterms:created>
  <dcterms:modified xsi:type="dcterms:W3CDTF">2026-10-24T19:26:25Z</dcterms:modified>
</cp:coreProperties>
</file>